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7" r:id="rId11"/>
    <p:sldId id="268" r:id="rId12"/>
  </p:sldIdLst>
  <p:sldSz cx="18288000" cy="10287000"/>
  <p:notesSz cx="6858000" cy="9144000"/>
  <p:embeddedFontLst>
    <p:embeddedFont>
      <p:font typeface="Tomorrow" panose="020B0604020202020204" charset="0"/>
      <p:regular r:id="rId14"/>
    </p:embeddedFont>
    <p:embeddedFont>
      <p:font typeface="Tomorrow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1957387"/>
            <a:ext cx="9445523" cy="180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Supply Chain Monitoring 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3842747"/>
            <a:ext cx="9445523" cy="144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 dirty="0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Predicting Delivery Delays using Machine Learning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618712"/>
            <a:ext cx="9445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Course:</a:t>
            </a: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CS336 AIML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6391275"/>
            <a:ext cx="9445523" cy="190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Team:</a:t>
            </a:r>
            <a:r>
              <a:rPr lang="en-US" sz="2187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Banka Venkata Likhith(BTECH/10518/23)</a:t>
            </a:r>
          </a:p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• Venkata Kalyan Chakravarthy (BTECH/10658/23) </a:t>
            </a:r>
          </a:p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• Bhavesh Jenna (BTECH/10796/23)</a:t>
            </a:r>
          </a:p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• </a:t>
            </a:r>
            <a:r>
              <a:rPr lang="en-US" sz="2187" dirty="0" err="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Enugurthi</a:t>
            </a:r>
            <a:r>
              <a:rPr lang="en-US" sz="2187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Anvith Sai (BTECH/10827/23)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8081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76017" y="756790"/>
            <a:ext cx="9225705" cy="909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Why This Problem Matters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6017" y="2487663"/>
            <a:ext cx="7996533" cy="78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87"/>
              </a:lnSpc>
            </a:pPr>
            <a:r>
              <a:rPr lang="en-US" sz="71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54.8%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31204" y="3600450"/>
            <a:ext cx="3485998" cy="45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Late Orders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6017" y="4133850"/>
            <a:ext cx="7996533" cy="528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Orders delayed across global supply chains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15298" y="2487663"/>
            <a:ext cx="7996685" cy="78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87"/>
              </a:lnSpc>
            </a:pPr>
            <a:r>
              <a:rPr lang="en-US" sz="71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171K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70646" y="3600450"/>
            <a:ext cx="3485998" cy="45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Orders Flagged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15298" y="4133850"/>
            <a:ext cx="7996685" cy="528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Requiring immediate intervention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76017" y="4970564"/>
            <a:ext cx="5262410" cy="3153366"/>
            <a:chOff x="0" y="0"/>
            <a:chExt cx="7016547" cy="42044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16497" cy="4204462"/>
            </a:xfrm>
            <a:custGeom>
              <a:avLst/>
              <a:gdLst/>
              <a:ahLst/>
              <a:cxnLst/>
              <a:rect l="l" t="t" r="r" b="b"/>
              <a:pathLst>
                <a:path w="7016497" h="4204462">
                  <a:moveTo>
                    <a:pt x="0" y="55753"/>
                  </a:moveTo>
                  <a:cubicBezTo>
                    <a:pt x="0" y="25019"/>
                    <a:pt x="25019" y="0"/>
                    <a:pt x="55753" y="0"/>
                  </a:cubicBezTo>
                  <a:lnTo>
                    <a:pt x="6960743" y="0"/>
                  </a:lnTo>
                  <a:cubicBezTo>
                    <a:pt x="6991604" y="0"/>
                    <a:pt x="7016497" y="25019"/>
                    <a:pt x="7016497" y="55753"/>
                  </a:cubicBezTo>
                  <a:lnTo>
                    <a:pt x="7016497" y="4148709"/>
                  </a:lnTo>
                  <a:cubicBezTo>
                    <a:pt x="7016497" y="4179570"/>
                    <a:pt x="6991477" y="4204462"/>
                    <a:pt x="6960743" y="4204462"/>
                  </a:cubicBezTo>
                  <a:lnTo>
                    <a:pt x="55753" y="4204462"/>
                  </a:lnTo>
                  <a:cubicBezTo>
                    <a:pt x="24892" y="4204462"/>
                    <a:pt x="0" y="4179443"/>
                    <a:pt x="0" y="4148709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54766" y="5249313"/>
            <a:ext cx="836562" cy="836562"/>
            <a:chOff x="0" y="0"/>
            <a:chExt cx="1115416" cy="11154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15441" cy="1115441"/>
            </a:xfrm>
            <a:custGeom>
              <a:avLst/>
              <a:gdLst/>
              <a:ahLst/>
              <a:cxnLst/>
              <a:rect l="l" t="t" r="r" b="b"/>
              <a:pathLst>
                <a:path w="1115441" h="1115441">
                  <a:moveTo>
                    <a:pt x="0" y="557657"/>
                  </a:moveTo>
                  <a:cubicBezTo>
                    <a:pt x="0" y="249682"/>
                    <a:pt x="249682" y="0"/>
                    <a:pt x="557657" y="0"/>
                  </a:cubicBezTo>
                  <a:cubicBezTo>
                    <a:pt x="865632" y="0"/>
                    <a:pt x="1115441" y="249682"/>
                    <a:pt x="1115441" y="557657"/>
                  </a:cubicBezTo>
                  <a:cubicBezTo>
                    <a:pt x="1115441" y="865632"/>
                    <a:pt x="865759" y="1115441"/>
                    <a:pt x="557657" y="1115441"/>
                  </a:cubicBezTo>
                  <a:cubicBezTo>
                    <a:pt x="249555" y="1115441"/>
                    <a:pt x="0" y="865759"/>
                    <a:pt x="0" y="557657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id="17" name="Freeform 17" descr="preencoded.png"/>
          <p:cNvSpPr/>
          <p:nvPr/>
        </p:nvSpPr>
        <p:spPr>
          <a:xfrm>
            <a:off x="1484862" y="5479256"/>
            <a:ext cx="376390" cy="376390"/>
          </a:xfrm>
          <a:custGeom>
            <a:avLst/>
            <a:gdLst/>
            <a:ahLst/>
            <a:cxnLst/>
            <a:rect l="l" t="t" r="r" b="b"/>
            <a:pathLst>
              <a:path w="376390" h="376390">
                <a:moveTo>
                  <a:pt x="0" y="0"/>
                </a:moveTo>
                <a:lnTo>
                  <a:pt x="376390" y="0"/>
                </a:lnTo>
                <a:lnTo>
                  <a:pt x="376390" y="376390"/>
                </a:lnTo>
                <a:lnTo>
                  <a:pt x="0" y="376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54766" y="6341116"/>
            <a:ext cx="3485998" cy="45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Financial Losses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4766" y="6874516"/>
            <a:ext cx="4704902" cy="97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Cost overruns from expedited shipping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512719" y="4970564"/>
            <a:ext cx="5262410" cy="3153366"/>
            <a:chOff x="0" y="0"/>
            <a:chExt cx="7016547" cy="42044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016497" cy="4204462"/>
            </a:xfrm>
            <a:custGeom>
              <a:avLst/>
              <a:gdLst/>
              <a:ahLst/>
              <a:cxnLst/>
              <a:rect l="l" t="t" r="r" b="b"/>
              <a:pathLst>
                <a:path w="7016497" h="4204462">
                  <a:moveTo>
                    <a:pt x="0" y="55753"/>
                  </a:moveTo>
                  <a:cubicBezTo>
                    <a:pt x="0" y="25019"/>
                    <a:pt x="25019" y="0"/>
                    <a:pt x="55753" y="0"/>
                  </a:cubicBezTo>
                  <a:lnTo>
                    <a:pt x="6960743" y="0"/>
                  </a:lnTo>
                  <a:cubicBezTo>
                    <a:pt x="6991604" y="0"/>
                    <a:pt x="7016497" y="25019"/>
                    <a:pt x="7016497" y="55753"/>
                  </a:cubicBezTo>
                  <a:lnTo>
                    <a:pt x="7016497" y="4148709"/>
                  </a:lnTo>
                  <a:cubicBezTo>
                    <a:pt x="7016497" y="4179570"/>
                    <a:pt x="6991477" y="4204462"/>
                    <a:pt x="6960743" y="4204462"/>
                  </a:cubicBezTo>
                  <a:lnTo>
                    <a:pt x="55753" y="4204462"/>
                  </a:lnTo>
                  <a:cubicBezTo>
                    <a:pt x="24892" y="4204462"/>
                    <a:pt x="0" y="4179443"/>
                    <a:pt x="0" y="4148709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791477" y="5249313"/>
            <a:ext cx="836562" cy="836562"/>
            <a:chOff x="0" y="0"/>
            <a:chExt cx="1115416" cy="11154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15441" cy="1115441"/>
            </a:xfrm>
            <a:custGeom>
              <a:avLst/>
              <a:gdLst/>
              <a:ahLst/>
              <a:cxnLst/>
              <a:rect l="l" t="t" r="r" b="b"/>
              <a:pathLst>
                <a:path w="1115441" h="1115441">
                  <a:moveTo>
                    <a:pt x="0" y="557657"/>
                  </a:moveTo>
                  <a:cubicBezTo>
                    <a:pt x="0" y="249682"/>
                    <a:pt x="249682" y="0"/>
                    <a:pt x="557657" y="0"/>
                  </a:cubicBezTo>
                  <a:cubicBezTo>
                    <a:pt x="865632" y="0"/>
                    <a:pt x="1115441" y="249682"/>
                    <a:pt x="1115441" y="557657"/>
                  </a:cubicBezTo>
                  <a:cubicBezTo>
                    <a:pt x="1115441" y="865632"/>
                    <a:pt x="865759" y="1115441"/>
                    <a:pt x="557657" y="1115441"/>
                  </a:cubicBezTo>
                  <a:cubicBezTo>
                    <a:pt x="249555" y="1115441"/>
                    <a:pt x="0" y="865759"/>
                    <a:pt x="0" y="557657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id="24" name="Freeform 24" descr="preencoded.png"/>
          <p:cNvSpPr/>
          <p:nvPr/>
        </p:nvSpPr>
        <p:spPr>
          <a:xfrm>
            <a:off x="7021563" y="5479256"/>
            <a:ext cx="376390" cy="376390"/>
          </a:xfrm>
          <a:custGeom>
            <a:avLst/>
            <a:gdLst/>
            <a:ahLst/>
            <a:cxnLst/>
            <a:rect l="l" t="t" r="r" b="b"/>
            <a:pathLst>
              <a:path w="376390" h="376390">
                <a:moveTo>
                  <a:pt x="0" y="0"/>
                </a:moveTo>
                <a:lnTo>
                  <a:pt x="376390" y="0"/>
                </a:lnTo>
                <a:lnTo>
                  <a:pt x="376390" y="376390"/>
                </a:lnTo>
                <a:lnTo>
                  <a:pt x="0" y="376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500" r="-2497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6791477" y="6341116"/>
            <a:ext cx="3485998" cy="45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SLA Failures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91477" y="6874516"/>
            <a:ext cx="4704902" cy="97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Service level agreements breached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049420" y="4970564"/>
            <a:ext cx="5262410" cy="3153366"/>
            <a:chOff x="0" y="0"/>
            <a:chExt cx="7016547" cy="420448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016497" cy="4204462"/>
            </a:xfrm>
            <a:custGeom>
              <a:avLst/>
              <a:gdLst/>
              <a:ahLst/>
              <a:cxnLst/>
              <a:rect l="l" t="t" r="r" b="b"/>
              <a:pathLst>
                <a:path w="7016497" h="4204462">
                  <a:moveTo>
                    <a:pt x="0" y="55753"/>
                  </a:moveTo>
                  <a:cubicBezTo>
                    <a:pt x="0" y="25019"/>
                    <a:pt x="25019" y="0"/>
                    <a:pt x="55753" y="0"/>
                  </a:cubicBezTo>
                  <a:lnTo>
                    <a:pt x="6960743" y="0"/>
                  </a:lnTo>
                  <a:cubicBezTo>
                    <a:pt x="6991604" y="0"/>
                    <a:pt x="7016497" y="25019"/>
                    <a:pt x="7016497" y="55753"/>
                  </a:cubicBezTo>
                  <a:lnTo>
                    <a:pt x="7016497" y="4148709"/>
                  </a:lnTo>
                  <a:cubicBezTo>
                    <a:pt x="7016497" y="4179570"/>
                    <a:pt x="6991477" y="4204462"/>
                    <a:pt x="6960743" y="4204462"/>
                  </a:cubicBezTo>
                  <a:lnTo>
                    <a:pt x="55753" y="4204462"/>
                  </a:lnTo>
                  <a:cubicBezTo>
                    <a:pt x="24892" y="4204462"/>
                    <a:pt x="0" y="4179443"/>
                    <a:pt x="0" y="4148709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2328179" y="5249313"/>
            <a:ext cx="836562" cy="836562"/>
            <a:chOff x="0" y="0"/>
            <a:chExt cx="1115416" cy="111541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15441" cy="1115441"/>
            </a:xfrm>
            <a:custGeom>
              <a:avLst/>
              <a:gdLst/>
              <a:ahLst/>
              <a:cxnLst/>
              <a:rect l="l" t="t" r="r" b="b"/>
              <a:pathLst>
                <a:path w="1115441" h="1115441">
                  <a:moveTo>
                    <a:pt x="0" y="557657"/>
                  </a:moveTo>
                  <a:cubicBezTo>
                    <a:pt x="0" y="249682"/>
                    <a:pt x="249682" y="0"/>
                    <a:pt x="557657" y="0"/>
                  </a:cubicBezTo>
                  <a:cubicBezTo>
                    <a:pt x="865632" y="0"/>
                    <a:pt x="1115441" y="249682"/>
                    <a:pt x="1115441" y="557657"/>
                  </a:cubicBezTo>
                  <a:cubicBezTo>
                    <a:pt x="1115441" y="865632"/>
                    <a:pt x="865759" y="1115441"/>
                    <a:pt x="557657" y="1115441"/>
                  </a:cubicBezTo>
                  <a:cubicBezTo>
                    <a:pt x="249555" y="1115441"/>
                    <a:pt x="0" y="865759"/>
                    <a:pt x="0" y="557657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id="31" name="Freeform 31" descr="preencoded.png"/>
          <p:cNvSpPr/>
          <p:nvPr/>
        </p:nvSpPr>
        <p:spPr>
          <a:xfrm>
            <a:off x="12558265" y="5479256"/>
            <a:ext cx="376390" cy="376390"/>
          </a:xfrm>
          <a:custGeom>
            <a:avLst/>
            <a:gdLst/>
            <a:ahLst/>
            <a:cxnLst/>
            <a:rect l="l" t="t" r="r" b="b"/>
            <a:pathLst>
              <a:path w="376390" h="376390">
                <a:moveTo>
                  <a:pt x="0" y="0"/>
                </a:moveTo>
                <a:lnTo>
                  <a:pt x="376390" y="0"/>
                </a:lnTo>
                <a:lnTo>
                  <a:pt x="376390" y="376390"/>
                </a:lnTo>
                <a:lnTo>
                  <a:pt x="0" y="376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000" r="-4997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2328179" y="6341116"/>
            <a:ext cx="3485998" cy="45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Poor Experience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28179" y="6874516"/>
            <a:ext cx="4704902" cy="97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Dissatisfied customers and lost trust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94222" y="8655253"/>
            <a:ext cx="15917761" cy="528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Reactive systems detect delays too late — we predict them before they happen.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76017" y="8432454"/>
            <a:ext cx="38100" cy="1059504"/>
            <a:chOff x="0" y="0"/>
            <a:chExt cx="50800" cy="141267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0800" cy="1412621"/>
            </a:xfrm>
            <a:custGeom>
              <a:avLst/>
              <a:gdLst/>
              <a:ahLst/>
              <a:cxnLst/>
              <a:rect l="l" t="t" r="r" b="b"/>
              <a:pathLst>
                <a:path w="50800" h="1412621">
                  <a:moveTo>
                    <a:pt x="0" y="0"/>
                  </a:moveTo>
                  <a:lnTo>
                    <a:pt x="50800" y="0"/>
                  </a:lnTo>
                  <a:lnTo>
                    <a:pt x="50800" y="1412621"/>
                  </a:lnTo>
                  <a:lnTo>
                    <a:pt x="0" y="1412621"/>
                  </a:lnTo>
                  <a:close/>
                </a:path>
              </a:pathLst>
            </a:custGeom>
            <a:solidFill>
              <a:srgbClr val="E1E1DF"/>
            </a:solid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20801" y="694877"/>
            <a:ext cx="6577460" cy="85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25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Dataset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0801" y="3093539"/>
            <a:ext cx="3288659" cy="42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Source &amp; Scale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0801" y="3691528"/>
            <a:ext cx="5339058" cy="472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DataCo Supply Chain Dataset</a:t>
            </a: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(Kaggle)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0801" y="4316911"/>
            <a:ext cx="5339058" cy="145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180,519 orders</a:t>
            </a:r>
          </a:p>
          <a:p>
            <a:pPr marL="311051" lvl="1" indent="-155525" algn="l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53 features</a:t>
            </a:r>
          </a:p>
          <a:p>
            <a:pPr marL="311051" lvl="1" indent="-155525" algn="l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Real-world shipping data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0801" y="6006103"/>
            <a:ext cx="3288659" cy="42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Feature Categories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0801" y="6604102"/>
            <a:ext cx="5339058" cy="194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Shipping details</a:t>
            </a:r>
          </a:p>
          <a:p>
            <a:pPr marL="311051" lvl="1" indent="-155525" algn="l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Financial metrics</a:t>
            </a:r>
          </a:p>
          <a:p>
            <a:pPr marL="311051" lvl="1" indent="-155525" algn="l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Geographic information</a:t>
            </a:r>
          </a:p>
          <a:p>
            <a:pPr marL="311051" lvl="1" indent="-155525" algn="l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Product specifications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11130" y="8292551"/>
            <a:ext cx="3288659" cy="42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Target Variable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11130" y="8890549"/>
            <a:ext cx="10465441" cy="472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1">
                <a:solidFill>
                  <a:srgbClr val="E1E1DF"/>
                </a:solidFill>
                <a:latin typeface="Tomorrow Bold"/>
                <a:ea typeface="Tomorrow Bold"/>
                <a:cs typeface="Tomorrow Bold"/>
                <a:sym typeface="Tomorrow Bold"/>
              </a:rPr>
              <a:t>Late_delivery_risk</a:t>
            </a: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— binary classification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51ACDF-7D5C-F8F2-5FDC-4ACA5D65B224}"/>
              </a:ext>
            </a:extLst>
          </p:cNvPr>
          <p:cNvSpPr txBox="1"/>
          <p:nvPr/>
        </p:nvSpPr>
        <p:spPr>
          <a:xfrm>
            <a:off x="4572000" y="4960771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489FE2E-49F4-1625-4DAE-678F9E89AB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2627146"/>
            <a:ext cx="11220449" cy="50309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207419" y="1155354"/>
            <a:ext cx="5026523" cy="65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System Pipeline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93131" y="2083003"/>
            <a:ext cx="13901738" cy="1234831"/>
            <a:chOff x="0" y="0"/>
            <a:chExt cx="18535650" cy="1646441"/>
          </a:xfrm>
        </p:grpSpPr>
        <p:sp>
          <p:nvSpPr>
            <p:cNvPr id="8" name="Freeform 8"/>
            <p:cNvSpPr/>
            <p:nvPr/>
          </p:nvSpPr>
          <p:spPr>
            <a:xfrm>
              <a:off x="19050" y="19050"/>
              <a:ext cx="18497550" cy="1608328"/>
            </a:xfrm>
            <a:custGeom>
              <a:avLst/>
              <a:gdLst/>
              <a:ahLst/>
              <a:cxnLst/>
              <a:rect l="l" t="t" r="r" b="b"/>
              <a:pathLst>
                <a:path w="18497550" h="1608328">
                  <a:moveTo>
                    <a:pt x="0" y="40259"/>
                  </a:moveTo>
                  <a:cubicBezTo>
                    <a:pt x="0" y="18034"/>
                    <a:pt x="18415" y="0"/>
                    <a:pt x="41021" y="0"/>
                  </a:cubicBezTo>
                  <a:lnTo>
                    <a:pt x="18456529" y="0"/>
                  </a:lnTo>
                  <a:cubicBezTo>
                    <a:pt x="18479263" y="0"/>
                    <a:pt x="18497550" y="18034"/>
                    <a:pt x="18497550" y="40259"/>
                  </a:cubicBezTo>
                  <a:lnTo>
                    <a:pt x="18497550" y="1568069"/>
                  </a:lnTo>
                  <a:cubicBezTo>
                    <a:pt x="18497550" y="1590294"/>
                    <a:pt x="18479136" y="1608328"/>
                    <a:pt x="18456529" y="1608328"/>
                  </a:cubicBezTo>
                  <a:lnTo>
                    <a:pt x="41021" y="1608328"/>
                  </a:lnTo>
                  <a:cubicBezTo>
                    <a:pt x="18288" y="1608328"/>
                    <a:pt x="0" y="1590294"/>
                    <a:pt x="0" y="156806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8535650" cy="1646428"/>
            </a:xfrm>
            <a:custGeom>
              <a:avLst/>
              <a:gdLst/>
              <a:ahLst/>
              <a:cxnLst/>
              <a:rect l="l" t="t" r="r" b="b"/>
              <a:pathLst>
                <a:path w="18535650" h="1646428">
                  <a:moveTo>
                    <a:pt x="0" y="59309"/>
                  </a:moveTo>
                  <a:cubicBezTo>
                    <a:pt x="0" y="26162"/>
                    <a:pt x="27305" y="0"/>
                    <a:pt x="60071" y="0"/>
                  </a:cubicBezTo>
                  <a:lnTo>
                    <a:pt x="18475579" y="0"/>
                  </a:lnTo>
                  <a:lnTo>
                    <a:pt x="18475579" y="19050"/>
                  </a:lnTo>
                  <a:lnTo>
                    <a:pt x="18475579" y="0"/>
                  </a:lnTo>
                  <a:cubicBezTo>
                    <a:pt x="18508345" y="0"/>
                    <a:pt x="18535650" y="26162"/>
                    <a:pt x="18535650" y="59309"/>
                  </a:cubicBezTo>
                  <a:lnTo>
                    <a:pt x="18516600" y="59309"/>
                  </a:lnTo>
                  <a:lnTo>
                    <a:pt x="18535650" y="59309"/>
                  </a:lnTo>
                  <a:lnTo>
                    <a:pt x="18535650" y="1587119"/>
                  </a:lnTo>
                  <a:lnTo>
                    <a:pt x="18516600" y="1587119"/>
                  </a:lnTo>
                  <a:lnTo>
                    <a:pt x="18535650" y="1587119"/>
                  </a:lnTo>
                  <a:cubicBezTo>
                    <a:pt x="18535650" y="1620266"/>
                    <a:pt x="18508345" y="1646428"/>
                    <a:pt x="18475579" y="1646428"/>
                  </a:cubicBezTo>
                  <a:lnTo>
                    <a:pt x="18475579" y="1627378"/>
                  </a:lnTo>
                  <a:lnTo>
                    <a:pt x="18475579" y="1646428"/>
                  </a:lnTo>
                  <a:lnTo>
                    <a:pt x="60071" y="1646428"/>
                  </a:lnTo>
                  <a:lnTo>
                    <a:pt x="60071" y="1627378"/>
                  </a:lnTo>
                  <a:lnTo>
                    <a:pt x="60071" y="1646428"/>
                  </a:lnTo>
                  <a:cubicBezTo>
                    <a:pt x="27305" y="1646428"/>
                    <a:pt x="0" y="1620266"/>
                    <a:pt x="0" y="1587119"/>
                  </a:cubicBezTo>
                  <a:lnTo>
                    <a:pt x="0" y="59309"/>
                  </a:lnTo>
                  <a:lnTo>
                    <a:pt x="19050" y="59309"/>
                  </a:lnTo>
                  <a:lnTo>
                    <a:pt x="0" y="59309"/>
                  </a:lnTo>
                  <a:moveTo>
                    <a:pt x="38100" y="59309"/>
                  </a:moveTo>
                  <a:lnTo>
                    <a:pt x="38100" y="1587119"/>
                  </a:lnTo>
                  <a:lnTo>
                    <a:pt x="19050" y="1587119"/>
                  </a:lnTo>
                  <a:lnTo>
                    <a:pt x="38100" y="1587119"/>
                  </a:lnTo>
                  <a:cubicBezTo>
                    <a:pt x="38100" y="1598422"/>
                    <a:pt x="47625" y="1608328"/>
                    <a:pt x="60071" y="1608328"/>
                  </a:cubicBezTo>
                  <a:lnTo>
                    <a:pt x="18475579" y="1608328"/>
                  </a:lnTo>
                  <a:cubicBezTo>
                    <a:pt x="18488152" y="1608328"/>
                    <a:pt x="18497550" y="1598422"/>
                    <a:pt x="18497550" y="1587119"/>
                  </a:cubicBezTo>
                  <a:lnTo>
                    <a:pt x="18497550" y="59309"/>
                  </a:lnTo>
                  <a:cubicBezTo>
                    <a:pt x="18497550" y="48006"/>
                    <a:pt x="18488025" y="38100"/>
                    <a:pt x="18475579" y="38100"/>
                  </a:cubicBezTo>
                  <a:lnTo>
                    <a:pt x="60071" y="38100"/>
                  </a:lnTo>
                  <a:lnTo>
                    <a:pt x="60071" y="19050"/>
                  </a:lnTo>
                  <a:lnTo>
                    <a:pt x="60071" y="38100"/>
                  </a:lnTo>
                  <a:cubicBezTo>
                    <a:pt x="47625" y="38100"/>
                    <a:pt x="38100" y="48006"/>
                    <a:pt x="38100" y="59309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2235994" y="2125866"/>
            <a:ext cx="804120" cy="1149106"/>
            <a:chOff x="0" y="0"/>
            <a:chExt cx="1072159" cy="153214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2134" cy="1532128"/>
            </a:xfrm>
            <a:custGeom>
              <a:avLst/>
              <a:gdLst/>
              <a:ahLst/>
              <a:cxnLst/>
              <a:rect l="l" t="t" r="r" b="b"/>
              <a:pathLst>
                <a:path w="1072134" h="1532128">
                  <a:moveTo>
                    <a:pt x="0" y="0"/>
                  </a:moveTo>
                  <a:lnTo>
                    <a:pt x="1072134" y="0"/>
                  </a:lnTo>
                  <a:lnTo>
                    <a:pt x="1072134" y="1532128"/>
                  </a:lnTo>
                  <a:lnTo>
                    <a:pt x="0" y="1532128"/>
                  </a:ln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2487216" y="2550023"/>
            <a:ext cx="301523" cy="33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231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82693" y="2307727"/>
            <a:ext cx="2575617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Data Preprocessing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82693" y="2697804"/>
            <a:ext cx="12668402" cy="30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Input: raw CSV (53 cols) → Drop leaky columns, parse dates, fix labels → Output: cleaned_data.csv (46 cols)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93131" y="3431829"/>
            <a:ext cx="13901738" cy="1436932"/>
            <a:chOff x="0" y="0"/>
            <a:chExt cx="18535650" cy="1915909"/>
          </a:xfrm>
        </p:grpSpPr>
        <p:sp>
          <p:nvSpPr>
            <p:cNvPr id="16" name="Freeform 16"/>
            <p:cNvSpPr/>
            <p:nvPr/>
          </p:nvSpPr>
          <p:spPr>
            <a:xfrm>
              <a:off x="19050" y="19050"/>
              <a:ext cx="18497550" cy="1877822"/>
            </a:xfrm>
            <a:custGeom>
              <a:avLst/>
              <a:gdLst/>
              <a:ahLst/>
              <a:cxnLst/>
              <a:rect l="l" t="t" r="r" b="b"/>
              <a:pathLst>
                <a:path w="18497550" h="1877822">
                  <a:moveTo>
                    <a:pt x="0" y="40259"/>
                  </a:moveTo>
                  <a:cubicBezTo>
                    <a:pt x="0" y="18034"/>
                    <a:pt x="18288" y="0"/>
                    <a:pt x="40894" y="0"/>
                  </a:cubicBezTo>
                  <a:lnTo>
                    <a:pt x="18456656" y="0"/>
                  </a:lnTo>
                  <a:cubicBezTo>
                    <a:pt x="18479263" y="0"/>
                    <a:pt x="18497550" y="18034"/>
                    <a:pt x="18497550" y="40259"/>
                  </a:cubicBezTo>
                  <a:lnTo>
                    <a:pt x="18497550" y="1837563"/>
                  </a:lnTo>
                  <a:cubicBezTo>
                    <a:pt x="18497550" y="1859788"/>
                    <a:pt x="18479263" y="1877822"/>
                    <a:pt x="18456656" y="1877822"/>
                  </a:cubicBezTo>
                  <a:lnTo>
                    <a:pt x="40894" y="1877822"/>
                  </a:lnTo>
                  <a:cubicBezTo>
                    <a:pt x="18288" y="1877822"/>
                    <a:pt x="0" y="1859788"/>
                    <a:pt x="0" y="1837563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18535650" cy="1915922"/>
            </a:xfrm>
            <a:custGeom>
              <a:avLst/>
              <a:gdLst/>
              <a:ahLst/>
              <a:cxnLst/>
              <a:rect l="l" t="t" r="r" b="b"/>
              <a:pathLst>
                <a:path w="18535650" h="1915922">
                  <a:moveTo>
                    <a:pt x="0" y="59309"/>
                  </a:moveTo>
                  <a:cubicBezTo>
                    <a:pt x="0" y="26162"/>
                    <a:pt x="27178" y="0"/>
                    <a:pt x="59944" y="0"/>
                  </a:cubicBezTo>
                  <a:lnTo>
                    <a:pt x="18475706" y="0"/>
                  </a:lnTo>
                  <a:lnTo>
                    <a:pt x="18475706" y="19050"/>
                  </a:lnTo>
                  <a:lnTo>
                    <a:pt x="18475706" y="0"/>
                  </a:lnTo>
                  <a:cubicBezTo>
                    <a:pt x="18508472" y="0"/>
                    <a:pt x="18535650" y="26162"/>
                    <a:pt x="18535650" y="59309"/>
                  </a:cubicBezTo>
                  <a:lnTo>
                    <a:pt x="18516600" y="59309"/>
                  </a:lnTo>
                  <a:lnTo>
                    <a:pt x="18535650" y="59309"/>
                  </a:lnTo>
                  <a:lnTo>
                    <a:pt x="18535650" y="1856613"/>
                  </a:lnTo>
                  <a:lnTo>
                    <a:pt x="18516600" y="1856613"/>
                  </a:lnTo>
                  <a:lnTo>
                    <a:pt x="18535650" y="1856613"/>
                  </a:lnTo>
                  <a:cubicBezTo>
                    <a:pt x="18535650" y="1889633"/>
                    <a:pt x="18508472" y="1915922"/>
                    <a:pt x="18475706" y="1915922"/>
                  </a:cubicBezTo>
                  <a:lnTo>
                    <a:pt x="18475706" y="1896872"/>
                  </a:lnTo>
                  <a:lnTo>
                    <a:pt x="18475706" y="1915922"/>
                  </a:lnTo>
                  <a:lnTo>
                    <a:pt x="59944" y="1915922"/>
                  </a:lnTo>
                  <a:lnTo>
                    <a:pt x="59944" y="1896872"/>
                  </a:lnTo>
                  <a:lnTo>
                    <a:pt x="59944" y="1915922"/>
                  </a:lnTo>
                  <a:cubicBezTo>
                    <a:pt x="27178" y="1915922"/>
                    <a:pt x="0" y="1889760"/>
                    <a:pt x="0" y="1856613"/>
                  </a:cubicBezTo>
                  <a:lnTo>
                    <a:pt x="0" y="59309"/>
                  </a:lnTo>
                  <a:lnTo>
                    <a:pt x="19050" y="59309"/>
                  </a:lnTo>
                  <a:lnTo>
                    <a:pt x="0" y="59309"/>
                  </a:lnTo>
                  <a:moveTo>
                    <a:pt x="38100" y="59309"/>
                  </a:moveTo>
                  <a:lnTo>
                    <a:pt x="38100" y="1856613"/>
                  </a:lnTo>
                  <a:lnTo>
                    <a:pt x="19050" y="1856613"/>
                  </a:lnTo>
                  <a:lnTo>
                    <a:pt x="38100" y="1856613"/>
                  </a:lnTo>
                  <a:cubicBezTo>
                    <a:pt x="38100" y="1867916"/>
                    <a:pt x="47625" y="1877822"/>
                    <a:pt x="59944" y="1877822"/>
                  </a:cubicBezTo>
                  <a:lnTo>
                    <a:pt x="18475706" y="1877822"/>
                  </a:lnTo>
                  <a:cubicBezTo>
                    <a:pt x="18488152" y="1877822"/>
                    <a:pt x="18497550" y="1868043"/>
                    <a:pt x="18497550" y="1856613"/>
                  </a:cubicBezTo>
                  <a:lnTo>
                    <a:pt x="18497550" y="59309"/>
                  </a:lnTo>
                  <a:cubicBezTo>
                    <a:pt x="18497550" y="48006"/>
                    <a:pt x="18488025" y="38100"/>
                    <a:pt x="18475706" y="38100"/>
                  </a:cubicBezTo>
                  <a:lnTo>
                    <a:pt x="59944" y="38100"/>
                  </a:lnTo>
                  <a:lnTo>
                    <a:pt x="59944" y="19050"/>
                  </a:lnTo>
                  <a:lnTo>
                    <a:pt x="59944" y="38100"/>
                  </a:lnTo>
                  <a:cubicBezTo>
                    <a:pt x="47625" y="38100"/>
                    <a:pt x="38100" y="47879"/>
                    <a:pt x="38100" y="59309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2235994" y="3474691"/>
            <a:ext cx="804120" cy="1351207"/>
            <a:chOff x="0" y="0"/>
            <a:chExt cx="1072159" cy="18016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2134" cy="1801622"/>
            </a:xfrm>
            <a:custGeom>
              <a:avLst/>
              <a:gdLst/>
              <a:ahLst/>
              <a:cxnLst/>
              <a:rect l="l" t="t" r="r" b="b"/>
              <a:pathLst>
                <a:path w="1072134" h="1801622">
                  <a:moveTo>
                    <a:pt x="0" y="0"/>
                  </a:moveTo>
                  <a:lnTo>
                    <a:pt x="1072134" y="0"/>
                  </a:lnTo>
                  <a:lnTo>
                    <a:pt x="1072134" y="1801622"/>
                  </a:lnTo>
                  <a:lnTo>
                    <a:pt x="0" y="1801622"/>
                  </a:ln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2487216" y="3999909"/>
            <a:ext cx="301523" cy="33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231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82693" y="3656562"/>
            <a:ext cx="3065707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Feature Engineering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82693" y="4046639"/>
            <a:ext cx="12668402" cy="578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26 new features: </a:t>
            </a:r>
            <a:r>
              <a:rPr lang="en-US" sz="1562" dirty="0" err="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delay_gap</a:t>
            </a:r>
            <a:r>
              <a:rPr lang="en-US" sz="15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, </a:t>
            </a:r>
            <a:r>
              <a:rPr lang="en-US" sz="1562" dirty="0" err="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shipping_mode_risk</a:t>
            </a:r>
            <a:r>
              <a:rPr lang="en-US" sz="15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, </a:t>
            </a:r>
            <a:r>
              <a:rPr lang="en-US" sz="1562" dirty="0" err="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profit_margin_ratio</a:t>
            </a:r>
            <a:r>
              <a:rPr lang="en-US" sz="15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, </a:t>
            </a:r>
            <a:r>
              <a:rPr lang="en-US" sz="1562" dirty="0" err="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is_weekend_order</a:t>
            </a:r>
            <a:r>
              <a:rPr lang="en-US" sz="15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, </a:t>
            </a:r>
            <a:r>
              <a:rPr lang="en-US" sz="1562" dirty="0" err="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market_risk_score</a:t>
            </a:r>
            <a:r>
              <a:rPr lang="en-US" sz="15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, </a:t>
            </a:r>
            <a:r>
              <a:rPr lang="en-US" sz="1562" dirty="0" err="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category_late_rate</a:t>
            </a:r>
            <a:r>
              <a:rPr lang="en-US" sz="15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→ Output: processed_data.csv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193131" y="4982766"/>
            <a:ext cx="13901738" cy="1436932"/>
            <a:chOff x="0" y="0"/>
            <a:chExt cx="18535650" cy="1915909"/>
          </a:xfrm>
        </p:grpSpPr>
        <p:sp>
          <p:nvSpPr>
            <p:cNvPr id="24" name="Freeform 24"/>
            <p:cNvSpPr/>
            <p:nvPr/>
          </p:nvSpPr>
          <p:spPr>
            <a:xfrm>
              <a:off x="19050" y="19050"/>
              <a:ext cx="18497550" cy="1877822"/>
            </a:xfrm>
            <a:custGeom>
              <a:avLst/>
              <a:gdLst/>
              <a:ahLst/>
              <a:cxnLst/>
              <a:rect l="l" t="t" r="r" b="b"/>
              <a:pathLst>
                <a:path w="18497550" h="1877822">
                  <a:moveTo>
                    <a:pt x="0" y="40259"/>
                  </a:moveTo>
                  <a:cubicBezTo>
                    <a:pt x="0" y="18034"/>
                    <a:pt x="18288" y="0"/>
                    <a:pt x="40894" y="0"/>
                  </a:cubicBezTo>
                  <a:lnTo>
                    <a:pt x="18456656" y="0"/>
                  </a:lnTo>
                  <a:cubicBezTo>
                    <a:pt x="18479263" y="0"/>
                    <a:pt x="18497550" y="18034"/>
                    <a:pt x="18497550" y="40259"/>
                  </a:cubicBezTo>
                  <a:lnTo>
                    <a:pt x="18497550" y="1837563"/>
                  </a:lnTo>
                  <a:cubicBezTo>
                    <a:pt x="18497550" y="1859788"/>
                    <a:pt x="18479263" y="1877822"/>
                    <a:pt x="18456656" y="1877822"/>
                  </a:cubicBezTo>
                  <a:lnTo>
                    <a:pt x="40894" y="1877822"/>
                  </a:lnTo>
                  <a:cubicBezTo>
                    <a:pt x="18288" y="1877822"/>
                    <a:pt x="0" y="1859788"/>
                    <a:pt x="0" y="1837563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8535650" cy="1915922"/>
            </a:xfrm>
            <a:custGeom>
              <a:avLst/>
              <a:gdLst/>
              <a:ahLst/>
              <a:cxnLst/>
              <a:rect l="l" t="t" r="r" b="b"/>
              <a:pathLst>
                <a:path w="18535650" h="1915922">
                  <a:moveTo>
                    <a:pt x="0" y="59309"/>
                  </a:moveTo>
                  <a:cubicBezTo>
                    <a:pt x="0" y="26162"/>
                    <a:pt x="27178" y="0"/>
                    <a:pt x="59944" y="0"/>
                  </a:cubicBezTo>
                  <a:lnTo>
                    <a:pt x="18475706" y="0"/>
                  </a:lnTo>
                  <a:lnTo>
                    <a:pt x="18475706" y="19050"/>
                  </a:lnTo>
                  <a:lnTo>
                    <a:pt x="18475706" y="0"/>
                  </a:lnTo>
                  <a:cubicBezTo>
                    <a:pt x="18508472" y="0"/>
                    <a:pt x="18535650" y="26162"/>
                    <a:pt x="18535650" y="59309"/>
                  </a:cubicBezTo>
                  <a:lnTo>
                    <a:pt x="18516600" y="59309"/>
                  </a:lnTo>
                  <a:lnTo>
                    <a:pt x="18535650" y="59309"/>
                  </a:lnTo>
                  <a:lnTo>
                    <a:pt x="18535650" y="1856613"/>
                  </a:lnTo>
                  <a:lnTo>
                    <a:pt x="18516600" y="1856613"/>
                  </a:lnTo>
                  <a:lnTo>
                    <a:pt x="18535650" y="1856613"/>
                  </a:lnTo>
                  <a:cubicBezTo>
                    <a:pt x="18535650" y="1889633"/>
                    <a:pt x="18508472" y="1915922"/>
                    <a:pt x="18475706" y="1915922"/>
                  </a:cubicBezTo>
                  <a:lnTo>
                    <a:pt x="18475706" y="1896872"/>
                  </a:lnTo>
                  <a:lnTo>
                    <a:pt x="18475706" y="1915922"/>
                  </a:lnTo>
                  <a:lnTo>
                    <a:pt x="59944" y="1915922"/>
                  </a:lnTo>
                  <a:lnTo>
                    <a:pt x="59944" y="1896872"/>
                  </a:lnTo>
                  <a:lnTo>
                    <a:pt x="59944" y="1915922"/>
                  </a:lnTo>
                  <a:cubicBezTo>
                    <a:pt x="27178" y="1915922"/>
                    <a:pt x="0" y="1889760"/>
                    <a:pt x="0" y="1856613"/>
                  </a:cubicBezTo>
                  <a:lnTo>
                    <a:pt x="0" y="59309"/>
                  </a:lnTo>
                  <a:lnTo>
                    <a:pt x="19050" y="59309"/>
                  </a:lnTo>
                  <a:lnTo>
                    <a:pt x="0" y="59309"/>
                  </a:lnTo>
                  <a:moveTo>
                    <a:pt x="38100" y="59309"/>
                  </a:moveTo>
                  <a:lnTo>
                    <a:pt x="38100" y="1856613"/>
                  </a:lnTo>
                  <a:lnTo>
                    <a:pt x="19050" y="1856613"/>
                  </a:lnTo>
                  <a:lnTo>
                    <a:pt x="38100" y="1856613"/>
                  </a:lnTo>
                  <a:cubicBezTo>
                    <a:pt x="38100" y="1867916"/>
                    <a:pt x="47625" y="1877822"/>
                    <a:pt x="59944" y="1877822"/>
                  </a:cubicBezTo>
                  <a:lnTo>
                    <a:pt x="18475706" y="1877822"/>
                  </a:lnTo>
                  <a:cubicBezTo>
                    <a:pt x="18488152" y="1877822"/>
                    <a:pt x="18497550" y="1868043"/>
                    <a:pt x="18497550" y="1856613"/>
                  </a:cubicBezTo>
                  <a:lnTo>
                    <a:pt x="18497550" y="59309"/>
                  </a:lnTo>
                  <a:cubicBezTo>
                    <a:pt x="18497550" y="48006"/>
                    <a:pt x="18488025" y="38100"/>
                    <a:pt x="18475706" y="38100"/>
                  </a:cubicBezTo>
                  <a:lnTo>
                    <a:pt x="59944" y="38100"/>
                  </a:lnTo>
                  <a:lnTo>
                    <a:pt x="59944" y="19050"/>
                  </a:lnTo>
                  <a:lnTo>
                    <a:pt x="59944" y="38100"/>
                  </a:lnTo>
                  <a:cubicBezTo>
                    <a:pt x="47625" y="38100"/>
                    <a:pt x="38100" y="47879"/>
                    <a:pt x="38100" y="59309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2235994" y="5025628"/>
            <a:ext cx="804120" cy="1351207"/>
            <a:chOff x="0" y="0"/>
            <a:chExt cx="1072159" cy="180160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2134" cy="1801622"/>
            </a:xfrm>
            <a:custGeom>
              <a:avLst/>
              <a:gdLst/>
              <a:ahLst/>
              <a:cxnLst/>
              <a:rect l="l" t="t" r="r" b="b"/>
              <a:pathLst>
                <a:path w="1072134" h="1801622">
                  <a:moveTo>
                    <a:pt x="0" y="0"/>
                  </a:moveTo>
                  <a:lnTo>
                    <a:pt x="1072134" y="0"/>
                  </a:lnTo>
                  <a:lnTo>
                    <a:pt x="1072134" y="1801622"/>
                  </a:lnTo>
                  <a:lnTo>
                    <a:pt x="0" y="1801622"/>
                  </a:ln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2487216" y="5550846"/>
            <a:ext cx="301523" cy="33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231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182693" y="5207499"/>
            <a:ext cx="3065707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Delay Prediction Model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82693" y="5597576"/>
            <a:ext cx="12668402" cy="578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Random Forest Classifier → Test Accuracy: 71.32% | ROC-AUC → Logistic Regression baseline → Output: predictions.csv with delay_probability per order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193131" y="6533702"/>
            <a:ext cx="13901738" cy="1234831"/>
            <a:chOff x="0" y="0"/>
            <a:chExt cx="18535650" cy="1646441"/>
          </a:xfrm>
        </p:grpSpPr>
        <p:sp>
          <p:nvSpPr>
            <p:cNvPr id="32" name="Freeform 32"/>
            <p:cNvSpPr/>
            <p:nvPr/>
          </p:nvSpPr>
          <p:spPr>
            <a:xfrm>
              <a:off x="19050" y="19050"/>
              <a:ext cx="18497550" cy="1608328"/>
            </a:xfrm>
            <a:custGeom>
              <a:avLst/>
              <a:gdLst/>
              <a:ahLst/>
              <a:cxnLst/>
              <a:rect l="l" t="t" r="r" b="b"/>
              <a:pathLst>
                <a:path w="18497550" h="1608328">
                  <a:moveTo>
                    <a:pt x="0" y="40259"/>
                  </a:moveTo>
                  <a:cubicBezTo>
                    <a:pt x="0" y="18034"/>
                    <a:pt x="18415" y="0"/>
                    <a:pt x="41021" y="0"/>
                  </a:cubicBezTo>
                  <a:lnTo>
                    <a:pt x="18456529" y="0"/>
                  </a:lnTo>
                  <a:cubicBezTo>
                    <a:pt x="18479263" y="0"/>
                    <a:pt x="18497550" y="18034"/>
                    <a:pt x="18497550" y="40259"/>
                  </a:cubicBezTo>
                  <a:lnTo>
                    <a:pt x="18497550" y="1568069"/>
                  </a:lnTo>
                  <a:cubicBezTo>
                    <a:pt x="18497550" y="1590294"/>
                    <a:pt x="18479136" y="1608328"/>
                    <a:pt x="18456529" y="1608328"/>
                  </a:cubicBezTo>
                  <a:lnTo>
                    <a:pt x="41021" y="1608328"/>
                  </a:lnTo>
                  <a:cubicBezTo>
                    <a:pt x="18288" y="1608328"/>
                    <a:pt x="0" y="1590294"/>
                    <a:pt x="0" y="156806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18535650" cy="1646428"/>
            </a:xfrm>
            <a:custGeom>
              <a:avLst/>
              <a:gdLst/>
              <a:ahLst/>
              <a:cxnLst/>
              <a:rect l="l" t="t" r="r" b="b"/>
              <a:pathLst>
                <a:path w="18535650" h="1646428">
                  <a:moveTo>
                    <a:pt x="0" y="59309"/>
                  </a:moveTo>
                  <a:cubicBezTo>
                    <a:pt x="0" y="26162"/>
                    <a:pt x="27305" y="0"/>
                    <a:pt x="60071" y="0"/>
                  </a:cubicBezTo>
                  <a:lnTo>
                    <a:pt x="18475579" y="0"/>
                  </a:lnTo>
                  <a:lnTo>
                    <a:pt x="18475579" y="19050"/>
                  </a:lnTo>
                  <a:lnTo>
                    <a:pt x="18475579" y="0"/>
                  </a:lnTo>
                  <a:cubicBezTo>
                    <a:pt x="18508345" y="0"/>
                    <a:pt x="18535650" y="26162"/>
                    <a:pt x="18535650" y="59309"/>
                  </a:cubicBezTo>
                  <a:lnTo>
                    <a:pt x="18516600" y="59309"/>
                  </a:lnTo>
                  <a:lnTo>
                    <a:pt x="18535650" y="59309"/>
                  </a:lnTo>
                  <a:lnTo>
                    <a:pt x="18535650" y="1587119"/>
                  </a:lnTo>
                  <a:lnTo>
                    <a:pt x="18516600" y="1587119"/>
                  </a:lnTo>
                  <a:lnTo>
                    <a:pt x="18535650" y="1587119"/>
                  </a:lnTo>
                  <a:cubicBezTo>
                    <a:pt x="18535650" y="1620266"/>
                    <a:pt x="18508345" y="1646428"/>
                    <a:pt x="18475579" y="1646428"/>
                  </a:cubicBezTo>
                  <a:lnTo>
                    <a:pt x="18475579" y="1627378"/>
                  </a:lnTo>
                  <a:lnTo>
                    <a:pt x="18475579" y="1646428"/>
                  </a:lnTo>
                  <a:lnTo>
                    <a:pt x="60071" y="1646428"/>
                  </a:lnTo>
                  <a:lnTo>
                    <a:pt x="60071" y="1627378"/>
                  </a:lnTo>
                  <a:lnTo>
                    <a:pt x="60071" y="1646428"/>
                  </a:lnTo>
                  <a:cubicBezTo>
                    <a:pt x="27305" y="1646428"/>
                    <a:pt x="0" y="1620266"/>
                    <a:pt x="0" y="1587119"/>
                  </a:cubicBezTo>
                  <a:lnTo>
                    <a:pt x="0" y="59309"/>
                  </a:lnTo>
                  <a:lnTo>
                    <a:pt x="19050" y="59309"/>
                  </a:lnTo>
                  <a:lnTo>
                    <a:pt x="0" y="59309"/>
                  </a:lnTo>
                  <a:moveTo>
                    <a:pt x="38100" y="59309"/>
                  </a:moveTo>
                  <a:lnTo>
                    <a:pt x="38100" y="1587119"/>
                  </a:lnTo>
                  <a:lnTo>
                    <a:pt x="19050" y="1587119"/>
                  </a:lnTo>
                  <a:lnTo>
                    <a:pt x="38100" y="1587119"/>
                  </a:lnTo>
                  <a:cubicBezTo>
                    <a:pt x="38100" y="1598422"/>
                    <a:pt x="47625" y="1608328"/>
                    <a:pt x="60071" y="1608328"/>
                  </a:cubicBezTo>
                  <a:lnTo>
                    <a:pt x="18475579" y="1608328"/>
                  </a:lnTo>
                  <a:cubicBezTo>
                    <a:pt x="18488152" y="1608328"/>
                    <a:pt x="18497550" y="1598422"/>
                    <a:pt x="18497550" y="1587119"/>
                  </a:cubicBezTo>
                  <a:lnTo>
                    <a:pt x="18497550" y="59309"/>
                  </a:lnTo>
                  <a:cubicBezTo>
                    <a:pt x="18497550" y="48006"/>
                    <a:pt x="18488025" y="38100"/>
                    <a:pt x="18475579" y="38100"/>
                  </a:cubicBezTo>
                  <a:lnTo>
                    <a:pt x="60071" y="38100"/>
                  </a:lnTo>
                  <a:lnTo>
                    <a:pt x="60071" y="19050"/>
                  </a:lnTo>
                  <a:lnTo>
                    <a:pt x="60071" y="38100"/>
                  </a:lnTo>
                  <a:cubicBezTo>
                    <a:pt x="47625" y="38100"/>
                    <a:pt x="38100" y="48006"/>
                    <a:pt x="38100" y="59309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2235994" y="6576565"/>
            <a:ext cx="804120" cy="1149106"/>
            <a:chOff x="0" y="0"/>
            <a:chExt cx="1072159" cy="153214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72134" cy="1532128"/>
            </a:xfrm>
            <a:custGeom>
              <a:avLst/>
              <a:gdLst/>
              <a:ahLst/>
              <a:cxnLst/>
              <a:rect l="l" t="t" r="r" b="b"/>
              <a:pathLst>
                <a:path w="1072134" h="1532128">
                  <a:moveTo>
                    <a:pt x="0" y="0"/>
                  </a:moveTo>
                  <a:lnTo>
                    <a:pt x="1072134" y="0"/>
                  </a:lnTo>
                  <a:lnTo>
                    <a:pt x="1072134" y="1532128"/>
                  </a:lnTo>
                  <a:lnTo>
                    <a:pt x="0" y="1532128"/>
                  </a:ln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2487216" y="7000723"/>
            <a:ext cx="301523" cy="33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231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82693" y="6758435"/>
            <a:ext cx="2513257" cy="333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AI Agent Logic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182693" y="7148513"/>
            <a:ext cx="12668402" cy="30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Thresholds: LOW &lt; 0.30 | MEDIUM 0.30–0.70 | HIGH &gt; 0.70 → Rule-based recommendations per risk tier → Output: final_output.csv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2193131" y="7882528"/>
            <a:ext cx="13901738" cy="1234831"/>
            <a:chOff x="0" y="0"/>
            <a:chExt cx="18535650" cy="1646441"/>
          </a:xfrm>
        </p:grpSpPr>
        <p:sp>
          <p:nvSpPr>
            <p:cNvPr id="40" name="Freeform 40"/>
            <p:cNvSpPr/>
            <p:nvPr/>
          </p:nvSpPr>
          <p:spPr>
            <a:xfrm>
              <a:off x="19050" y="19050"/>
              <a:ext cx="18497550" cy="1608328"/>
            </a:xfrm>
            <a:custGeom>
              <a:avLst/>
              <a:gdLst/>
              <a:ahLst/>
              <a:cxnLst/>
              <a:rect l="l" t="t" r="r" b="b"/>
              <a:pathLst>
                <a:path w="18497550" h="1608328">
                  <a:moveTo>
                    <a:pt x="0" y="40259"/>
                  </a:moveTo>
                  <a:cubicBezTo>
                    <a:pt x="0" y="18034"/>
                    <a:pt x="18415" y="0"/>
                    <a:pt x="41021" y="0"/>
                  </a:cubicBezTo>
                  <a:lnTo>
                    <a:pt x="18456529" y="0"/>
                  </a:lnTo>
                  <a:cubicBezTo>
                    <a:pt x="18479263" y="0"/>
                    <a:pt x="18497550" y="18034"/>
                    <a:pt x="18497550" y="40259"/>
                  </a:cubicBezTo>
                  <a:lnTo>
                    <a:pt x="18497550" y="1568069"/>
                  </a:lnTo>
                  <a:cubicBezTo>
                    <a:pt x="18497550" y="1590294"/>
                    <a:pt x="18479136" y="1608328"/>
                    <a:pt x="18456529" y="1608328"/>
                  </a:cubicBezTo>
                  <a:lnTo>
                    <a:pt x="41021" y="1608328"/>
                  </a:lnTo>
                  <a:cubicBezTo>
                    <a:pt x="18288" y="1608328"/>
                    <a:pt x="0" y="1590294"/>
                    <a:pt x="0" y="156806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18535650" cy="1646428"/>
            </a:xfrm>
            <a:custGeom>
              <a:avLst/>
              <a:gdLst/>
              <a:ahLst/>
              <a:cxnLst/>
              <a:rect l="l" t="t" r="r" b="b"/>
              <a:pathLst>
                <a:path w="18535650" h="1646428">
                  <a:moveTo>
                    <a:pt x="0" y="59309"/>
                  </a:moveTo>
                  <a:cubicBezTo>
                    <a:pt x="0" y="26162"/>
                    <a:pt x="27305" y="0"/>
                    <a:pt x="60071" y="0"/>
                  </a:cubicBezTo>
                  <a:lnTo>
                    <a:pt x="18475579" y="0"/>
                  </a:lnTo>
                  <a:lnTo>
                    <a:pt x="18475579" y="19050"/>
                  </a:lnTo>
                  <a:lnTo>
                    <a:pt x="18475579" y="0"/>
                  </a:lnTo>
                  <a:cubicBezTo>
                    <a:pt x="18508345" y="0"/>
                    <a:pt x="18535650" y="26162"/>
                    <a:pt x="18535650" y="59309"/>
                  </a:cubicBezTo>
                  <a:lnTo>
                    <a:pt x="18516600" y="59309"/>
                  </a:lnTo>
                  <a:lnTo>
                    <a:pt x="18535650" y="59309"/>
                  </a:lnTo>
                  <a:lnTo>
                    <a:pt x="18535650" y="1587119"/>
                  </a:lnTo>
                  <a:lnTo>
                    <a:pt x="18516600" y="1587119"/>
                  </a:lnTo>
                  <a:lnTo>
                    <a:pt x="18535650" y="1587119"/>
                  </a:lnTo>
                  <a:cubicBezTo>
                    <a:pt x="18535650" y="1620266"/>
                    <a:pt x="18508345" y="1646428"/>
                    <a:pt x="18475579" y="1646428"/>
                  </a:cubicBezTo>
                  <a:lnTo>
                    <a:pt x="18475579" y="1627378"/>
                  </a:lnTo>
                  <a:lnTo>
                    <a:pt x="18475579" y="1646428"/>
                  </a:lnTo>
                  <a:lnTo>
                    <a:pt x="60071" y="1646428"/>
                  </a:lnTo>
                  <a:lnTo>
                    <a:pt x="60071" y="1627378"/>
                  </a:lnTo>
                  <a:lnTo>
                    <a:pt x="60071" y="1646428"/>
                  </a:lnTo>
                  <a:cubicBezTo>
                    <a:pt x="27305" y="1646428"/>
                    <a:pt x="0" y="1620266"/>
                    <a:pt x="0" y="1587119"/>
                  </a:cubicBezTo>
                  <a:lnTo>
                    <a:pt x="0" y="59309"/>
                  </a:lnTo>
                  <a:lnTo>
                    <a:pt x="19050" y="59309"/>
                  </a:lnTo>
                  <a:lnTo>
                    <a:pt x="0" y="59309"/>
                  </a:lnTo>
                  <a:moveTo>
                    <a:pt x="38100" y="59309"/>
                  </a:moveTo>
                  <a:lnTo>
                    <a:pt x="38100" y="1587119"/>
                  </a:lnTo>
                  <a:lnTo>
                    <a:pt x="19050" y="1587119"/>
                  </a:lnTo>
                  <a:lnTo>
                    <a:pt x="38100" y="1587119"/>
                  </a:lnTo>
                  <a:cubicBezTo>
                    <a:pt x="38100" y="1598422"/>
                    <a:pt x="47625" y="1608328"/>
                    <a:pt x="60071" y="1608328"/>
                  </a:cubicBezTo>
                  <a:lnTo>
                    <a:pt x="18475579" y="1608328"/>
                  </a:lnTo>
                  <a:cubicBezTo>
                    <a:pt x="18488152" y="1608328"/>
                    <a:pt x="18497550" y="1598422"/>
                    <a:pt x="18497550" y="1587119"/>
                  </a:cubicBezTo>
                  <a:lnTo>
                    <a:pt x="18497550" y="59309"/>
                  </a:lnTo>
                  <a:cubicBezTo>
                    <a:pt x="18497550" y="48006"/>
                    <a:pt x="18488025" y="38100"/>
                    <a:pt x="18475579" y="38100"/>
                  </a:cubicBezTo>
                  <a:lnTo>
                    <a:pt x="60071" y="38100"/>
                  </a:lnTo>
                  <a:lnTo>
                    <a:pt x="60071" y="19050"/>
                  </a:lnTo>
                  <a:lnTo>
                    <a:pt x="60071" y="38100"/>
                  </a:lnTo>
                  <a:cubicBezTo>
                    <a:pt x="47625" y="38100"/>
                    <a:pt x="38100" y="48006"/>
                    <a:pt x="38100" y="59309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2235994" y="7925391"/>
            <a:ext cx="804120" cy="1149106"/>
            <a:chOff x="0" y="0"/>
            <a:chExt cx="1072159" cy="153214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72134" cy="1532128"/>
            </a:xfrm>
            <a:custGeom>
              <a:avLst/>
              <a:gdLst/>
              <a:ahLst/>
              <a:cxnLst/>
              <a:rect l="l" t="t" r="r" b="b"/>
              <a:pathLst>
                <a:path w="1072134" h="1532128">
                  <a:moveTo>
                    <a:pt x="0" y="0"/>
                  </a:moveTo>
                  <a:lnTo>
                    <a:pt x="1072134" y="0"/>
                  </a:lnTo>
                  <a:lnTo>
                    <a:pt x="1072134" y="1532128"/>
                  </a:lnTo>
                  <a:lnTo>
                    <a:pt x="0" y="1532128"/>
                  </a:ln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2487216" y="8349558"/>
            <a:ext cx="301523" cy="33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231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5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182693" y="8107261"/>
            <a:ext cx="4051249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Visualization &amp; Dashboard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182693" y="8497338"/>
            <a:ext cx="12668402" cy="30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Executive KPI dashboard → Risk distribution charts, shipping mode analysis → Output: dashboard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7850238" y="1057123"/>
            <a:ext cx="7999362" cy="806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Data Preprocessing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850238" y="2396881"/>
            <a:ext cx="1417587" cy="1701108"/>
            <a:chOff x="0" y="0"/>
            <a:chExt cx="1890116" cy="2268144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890141" cy="2268093"/>
            </a:xfrm>
            <a:custGeom>
              <a:avLst/>
              <a:gdLst/>
              <a:ahLst/>
              <a:cxnLst/>
              <a:rect l="l" t="t" r="r" b="b"/>
              <a:pathLst>
                <a:path w="1890141" h="2268093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5" r="1" b="-57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551346" y="2661342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Data Cleaning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51346" y="3198171"/>
            <a:ext cx="7744416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Removed irrelevant and leaky columns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855700" y="4089096"/>
            <a:ext cx="1417587" cy="1701108"/>
            <a:chOff x="0" y="0"/>
            <a:chExt cx="1890116" cy="2268144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890141" cy="2268093"/>
            </a:xfrm>
            <a:custGeom>
              <a:avLst/>
              <a:gdLst/>
              <a:ahLst/>
              <a:cxnLst/>
              <a:rect l="l" t="t" r="r" b="b"/>
              <a:pathLst>
                <a:path w="1890141" h="2268093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5" r="1" b="-5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9551346" y="4362450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Missing Values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51346" y="4899269"/>
            <a:ext cx="7744416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Handled missing data systematically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850238" y="5799087"/>
            <a:ext cx="1417587" cy="1701108"/>
            <a:chOff x="0" y="0"/>
            <a:chExt cx="1890116" cy="2268144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890141" cy="2268093"/>
            </a:xfrm>
            <a:custGeom>
              <a:avLst/>
              <a:gdLst/>
              <a:ahLst/>
              <a:cxnLst/>
              <a:rect l="l" t="t" r="r" b="b"/>
              <a:pathLst>
                <a:path w="1890141" h="2268093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5" r="1" b="-57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9551346" y="6063558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Standardization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51346" y="6600377"/>
            <a:ext cx="7744416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Normalized categorical data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850238" y="7500195"/>
            <a:ext cx="1417587" cy="1701108"/>
            <a:chOff x="0" y="0"/>
            <a:chExt cx="1890116" cy="2268144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890141" cy="2268093"/>
            </a:xfrm>
            <a:custGeom>
              <a:avLst/>
              <a:gdLst/>
              <a:ahLst/>
              <a:cxnLst/>
              <a:rect l="l" t="t" r="r" b="b"/>
              <a:pathLst>
                <a:path w="1890141" h="2268093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5" r="1" b="-57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9551346" y="7764666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Output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51346" y="8301485"/>
            <a:ext cx="7744416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46 clean features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9BF7229-8DB8-408C-9464-6A2538DFAC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1562100"/>
            <a:ext cx="6858000" cy="7162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37317" y="707974"/>
            <a:ext cx="6863058" cy="865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Feature Engineering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37317" y="3844080"/>
            <a:ext cx="3311281" cy="2898877"/>
            <a:chOff x="0" y="0"/>
            <a:chExt cx="4415041" cy="38651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15028" cy="3865118"/>
            </a:xfrm>
            <a:custGeom>
              <a:avLst/>
              <a:gdLst/>
              <a:ahLst/>
              <a:cxnLst/>
              <a:rect l="l" t="t" r="r" b="b"/>
              <a:pathLst>
                <a:path w="4415028" h="386511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171188" y="0"/>
                  </a:lnTo>
                  <a:cubicBezTo>
                    <a:pt x="4305808" y="0"/>
                    <a:pt x="4415028" y="109220"/>
                    <a:pt x="4415028" y="243840"/>
                  </a:cubicBezTo>
                  <a:lnTo>
                    <a:pt x="4415028" y="3621278"/>
                  </a:lnTo>
                  <a:cubicBezTo>
                    <a:pt x="4415028" y="3755898"/>
                    <a:pt x="4305808" y="3865118"/>
                    <a:pt x="4171188" y="3865118"/>
                  </a:cubicBezTo>
                  <a:lnTo>
                    <a:pt x="243840" y="3865118"/>
                  </a:lnTo>
                  <a:cubicBezTo>
                    <a:pt x="109220" y="3865118"/>
                    <a:pt x="0" y="3755898"/>
                    <a:pt x="0" y="3621278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37317" y="3805980"/>
            <a:ext cx="3311281" cy="152400"/>
            <a:chOff x="0" y="0"/>
            <a:chExt cx="4415041" cy="203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15028" cy="203200"/>
            </a:xfrm>
            <a:custGeom>
              <a:avLst/>
              <a:gdLst/>
              <a:ahLst/>
              <a:cxnLst/>
              <a:rect l="l" t="t" r="r" b="b"/>
              <a:pathLst>
                <a:path w="4415028" h="203200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4361434" y="0"/>
                  </a:lnTo>
                  <a:cubicBezTo>
                    <a:pt x="4391025" y="0"/>
                    <a:pt x="4415028" y="24003"/>
                    <a:pt x="4415028" y="53594"/>
                  </a:cubicBezTo>
                  <a:lnTo>
                    <a:pt x="4415028" y="149606"/>
                  </a:lnTo>
                  <a:cubicBezTo>
                    <a:pt x="4415028" y="179197"/>
                    <a:pt x="4391025" y="203200"/>
                    <a:pt x="4361434" y="203200"/>
                  </a:cubicBezTo>
                  <a:lnTo>
                    <a:pt x="53594" y="203200"/>
                  </a:lnTo>
                  <a:cubicBezTo>
                    <a:pt x="24003" y="203200"/>
                    <a:pt x="0" y="179197"/>
                    <a:pt x="0" y="14960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191198" y="3442392"/>
            <a:ext cx="803377" cy="803377"/>
            <a:chOff x="0" y="0"/>
            <a:chExt cx="1071169" cy="107116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1118" cy="1071118"/>
            </a:xfrm>
            <a:custGeom>
              <a:avLst/>
              <a:gdLst/>
              <a:ahLst/>
              <a:cxnLst/>
              <a:rect l="l" t="t" r="r" b="b"/>
              <a:pathLst>
                <a:path w="1071118" h="1071118">
                  <a:moveTo>
                    <a:pt x="0" y="535559"/>
                  </a:moveTo>
                  <a:cubicBezTo>
                    <a:pt x="0" y="239776"/>
                    <a:pt x="239776" y="0"/>
                    <a:pt x="535559" y="0"/>
                  </a:cubicBezTo>
                  <a:cubicBezTo>
                    <a:pt x="831342" y="0"/>
                    <a:pt x="1071118" y="239776"/>
                    <a:pt x="1071118" y="535559"/>
                  </a:cubicBezTo>
                  <a:cubicBezTo>
                    <a:pt x="1071118" y="831342"/>
                    <a:pt x="831342" y="1071118"/>
                    <a:pt x="535559" y="1071118"/>
                  </a:cubicBezTo>
                  <a:cubicBezTo>
                    <a:pt x="239776" y="1071118"/>
                    <a:pt x="0" y="831342"/>
                    <a:pt x="0" y="535559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2432152" y="3566960"/>
            <a:ext cx="321316" cy="439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499" b="1" dirty="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 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3165" y="4504134"/>
            <a:ext cx="2699595" cy="428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Delay Gap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3165" y="5108972"/>
            <a:ext cx="2699595" cy="1326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Time difference between scheduled and actual delivery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501601" y="3844080"/>
            <a:ext cx="3311281" cy="2898877"/>
            <a:chOff x="0" y="0"/>
            <a:chExt cx="4415041" cy="38651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15028" cy="3865118"/>
            </a:xfrm>
            <a:custGeom>
              <a:avLst/>
              <a:gdLst/>
              <a:ahLst/>
              <a:cxnLst/>
              <a:rect l="l" t="t" r="r" b="b"/>
              <a:pathLst>
                <a:path w="4415028" h="386511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171188" y="0"/>
                  </a:lnTo>
                  <a:cubicBezTo>
                    <a:pt x="4305808" y="0"/>
                    <a:pt x="4415028" y="109220"/>
                    <a:pt x="4415028" y="243840"/>
                  </a:cubicBezTo>
                  <a:lnTo>
                    <a:pt x="4415028" y="3621278"/>
                  </a:lnTo>
                  <a:cubicBezTo>
                    <a:pt x="4415028" y="3755898"/>
                    <a:pt x="4305808" y="3865118"/>
                    <a:pt x="4171188" y="3865118"/>
                  </a:cubicBezTo>
                  <a:lnTo>
                    <a:pt x="243840" y="3865118"/>
                  </a:lnTo>
                  <a:cubicBezTo>
                    <a:pt x="109220" y="3865118"/>
                    <a:pt x="0" y="3755898"/>
                    <a:pt x="0" y="3621278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4394534" y="3805980"/>
            <a:ext cx="3311281" cy="152400"/>
            <a:chOff x="0" y="0"/>
            <a:chExt cx="4415041" cy="203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15028" cy="203200"/>
            </a:xfrm>
            <a:custGeom>
              <a:avLst/>
              <a:gdLst/>
              <a:ahLst/>
              <a:cxnLst/>
              <a:rect l="l" t="t" r="r" b="b"/>
              <a:pathLst>
                <a:path w="4415028" h="203200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4361434" y="0"/>
                  </a:lnTo>
                  <a:cubicBezTo>
                    <a:pt x="4391025" y="0"/>
                    <a:pt x="4415028" y="24003"/>
                    <a:pt x="4415028" y="53594"/>
                  </a:cubicBezTo>
                  <a:lnTo>
                    <a:pt x="4415028" y="149606"/>
                  </a:lnTo>
                  <a:cubicBezTo>
                    <a:pt x="4415028" y="179197"/>
                    <a:pt x="4391025" y="203200"/>
                    <a:pt x="4361434" y="203200"/>
                  </a:cubicBezTo>
                  <a:lnTo>
                    <a:pt x="53594" y="203200"/>
                  </a:lnTo>
                  <a:cubicBezTo>
                    <a:pt x="24003" y="203200"/>
                    <a:pt x="0" y="179197"/>
                    <a:pt x="0" y="14960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5755481" y="3442392"/>
            <a:ext cx="803377" cy="803377"/>
            <a:chOff x="0" y="0"/>
            <a:chExt cx="1071169" cy="107116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1118" cy="1071118"/>
            </a:xfrm>
            <a:custGeom>
              <a:avLst/>
              <a:gdLst/>
              <a:ahLst/>
              <a:cxnLst/>
              <a:rect l="l" t="t" r="r" b="b"/>
              <a:pathLst>
                <a:path w="1071118" h="1071118">
                  <a:moveTo>
                    <a:pt x="0" y="535559"/>
                  </a:moveTo>
                  <a:cubicBezTo>
                    <a:pt x="0" y="239776"/>
                    <a:pt x="239776" y="0"/>
                    <a:pt x="535559" y="0"/>
                  </a:cubicBezTo>
                  <a:cubicBezTo>
                    <a:pt x="831342" y="0"/>
                    <a:pt x="1071118" y="239776"/>
                    <a:pt x="1071118" y="535559"/>
                  </a:cubicBezTo>
                  <a:cubicBezTo>
                    <a:pt x="1071118" y="831342"/>
                    <a:pt x="831342" y="1071118"/>
                    <a:pt x="535559" y="1071118"/>
                  </a:cubicBezTo>
                  <a:cubicBezTo>
                    <a:pt x="239776" y="1071118"/>
                    <a:pt x="0" y="831342"/>
                    <a:pt x="0" y="535559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5996435" y="3566960"/>
            <a:ext cx="321316" cy="47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499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07448" y="4504134"/>
            <a:ext cx="2699595" cy="846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Shipping Mode Risk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07448" y="5527472"/>
            <a:ext cx="2699595" cy="909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Risk scores by shipping method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065884" y="3844080"/>
            <a:ext cx="2699747" cy="2898877"/>
            <a:chOff x="0" y="0"/>
            <a:chExt cx="4415231" cy="386516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415282" cy="3865118"/>
            </a:xfrm>
            <a:custGeom>
              <a:avLst/>
              <a:gdLst/>
              <a:ahLst/>
              <a:cxnLst/>
              <a:rect l="l" t="t" r="r" b="b"/>
              <a:pathLst>
                <a:path w="4415282" h="386511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171442" y="0"/>
                  </a:lnTo>
                  <a:cubicBezTo>
                    <a:pt x="4306062" y="0"/>
                    <a:pt x="4415282" y="109220"/>
                    <a:pt x="4415282" y="243840"/>
                  </a:cubicBezTo>
                  <a:lnTo>
                    <a:pt x="4415282" y="3621278"/>
                  </a:lnTo>
                  <a:cubicBezTo>
                    <a:pt x="4415282" y="3755898"/>
                    <a:pt x="4306062" y="3865118"/>
                    <a:pt x="4171442" y="3865118"/>
                  </a:cubicBezTo>
                  <a:lnTo>
                    <a:pt x="243840" y="3865118"/>
                  </a:lnTo>
                  <a:cubicBezTo>
                    <a:pt x="109220" y="3865118"/>
                    <a:pt x="0" y="3755898"/>
                    <a:pt x="0" y="3621278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7824815" y="3805980"/>
            <a:ext cx="3043695" cy="152400"/>
            <a:chOff x="0" y="0"/>
            <a:chExt cx="4415231" cy="203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415282" cy="203200"/>
            </a:xfrm>
            <a:custGeom>
              <a:avLst/>
              <a:gdLst/>
              <a:ahLst/>
              <a:cxnLst/>
              <a:rect l="l" t="t" r="r" b="b"/>
              <a:pathLst>
                <a:path w="4415282" h="203200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4361688" y="0"/>
                  </a:lnTo>
                  <a:cubicBezTo>
                    <a:pt x="4391279" y="0"/>
                    <a:pt x="4415282" y="24003"/>
                    <a:pt x="4415282" y="53594"/>
                  </a:cubicBezTo>
                  <a:lnTo>
                    <a:pt x="4415282" y="149606"/>
                  </a:lnTo>
                  <a:cubicBezTo>
                    <a:pt x="4415282" y="179197"/>
                    <a:pt x="4391279" y="203200"/>
                    <a:pt x="4361688" y="203200"/>
                  </a:cubicBezTo>
                  <a:lnTo>
                    <a:pt x="53594" y="203200"/>
                  </a:lnTo>
                  <a:cubicBezTo>
                    <a:pt x="24003" y="203200"/>
                    <a:pt x="0" y="179197"/>
                    <a:pt x="0" y="14960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8951327" y="3483983"/>
            <a:ext cx="850422" cy="803377"/>
            <a:chOff x="0" y="0"/>
            <a:chExt cx="1071169" cy="107116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71118" cy="1071118"/>
            </a:xfrm>
            <a:custGeom>
              <a:avLst/>
              <a:gdLst/>
              <a:ahLst/>
              <a:cxnLst/>
              <a:rect l="l" t="t" r="r" b="b"/>
              <a:pathLst>
                <a:path w="1071118" h="1071118">
                  <a:moveTo>
                    <a:pt x="0" y="535559"/>
                  </a:moveTo>
                  <a:cubicBezTo>
                    <a:pt x="0" y="239776"/>
                    <a:pt x="239776" y="0"/>
                    <a:pt x="535559" y="0"/>
                  </a:cubicBezTo>
                  <a:cubicBezTo>
                    <a:pt x="831342" y="0"/>
                    <a:pt x="1071118" y="239776"/>
                    <a:pt x="1071118" y="535559"/>
                  </a:cubicBezTo>
                  <a:cubicBezTo>
                    <a:pt x="1071118" y="831342"/>
                    <a:pt x="831342" y="1071118"/>
                    <a:pt x="535559" y="1071118"/>
                  </a:cubicBezTo>
                  <a:cubicBezTo>
                    <a:pt x="239776" y="1071118"/>
                    <a:pt x="0" y="831342"/>
                    <a:pt x="0" y="535559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9255115" y="3566960"/>
            <a:ext cx="321316" cy="47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499" b="1" dirty="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71732" y="4504134"/>
            <a:ext cx="2699747" cy="846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Market Risk Score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1732" y="5527472"/>
            <a:ext cx="2699747" cy="909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Geographic risk aggregation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37317" y="7027516"/>
            <a:ext cx="10439991" cy="1098052"/>
            <a:chOff x="0" y="0"/>
            <a:chExt cx="13919987" cy="146406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919961" cy="1464056"/>
            </a:xfrm>
            <a:custGeom>
              <a:avLst/>
              <a:gdLst/>
              <a:ahLst/>
              <a:cxnLst/>
              <a:rect l="l" t="t" r="r" b="b"/>
              <a:pathLst>
                <a:path w="13919961" h="1464056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3866368" y="0"/>
                  </a:lnTo>
                  <a:cubicBezTo>
                    <a:pt x="13895958" y="0"/>
                    <a:pt x="13919961" y="24003"/>
                    <a:pt x="13919961" y="53594"/>
                  </a:cubicBezTo>
                  <a:lnTo>
                    <a:pt x="13919961" y="1410462"/>
                  </a:lnTo>
                  <a:cubicBezTo>
                    <a:pt x="13919961" y="1440053"/>
                    <a:pt x="13895958" y="1464056"/>
                    <a:pt x="13866368" y="1464056"/>
                  </a:cubicBezTo>
                  <a:lnTo>
                    <a:pt x="53594" y="1464056"/>
                  </a:lnTo>
                  <a:cubicBezTo>
                    <a:pt x="24003" y="1464056"/>
                    <a:pt x="0" y="1440053"/>
                    <a:pt x="0" y="1410462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205065" y="7432472"/>
            <a:ext cx="334718" cy="267738"/>
            <a:chOff x="0" y="0"/>
            <a:chExt cx="446291" cy="356984"/>
          </a:xfrm>
        </p:grpSpPr>
        <p:sp>
          <p:nvSpPr>
            <p:cNvPr id="37" name="Freeform 37" descr="preencoded.png"/>
            <p:cNvSpPr/>
            <p:nvPr/>
          </p:nvSpPr>
          <p:spPr>
            <a:xfrm>
              <a:off x="0" y="0"/>
              <a:ext cx="446278" cy="356997"/>
            </a:xfrm>
            <a:custGeom>
              <a:avLst/>
              <a:gdLst/>
              <a:ahLst/>
              <a:cxnLst/>
              <a:rect l="l" t="t" r="r" b="b"/>
              <a:pathLst>
                <a:path w="446278" h="356997">
                  <a:moveTo>
                    <a:pt x="0" y="0"/>
                  </a:moveTo>
                  <a:lnTo>
                    <a:pt x="446278" y="0"/>
                  </a:lnTo>
                  <a:lnTo>
                    <a:pt x="446278" y="356997"/>
                  </a:lnTo>
                  <a:lnTo>
                    <a:pt x="0" y="35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" r="-2" b="-3"/>
              </a:stretch>
            </a:blipFill>
          </p:spPr>
        </p:sp>
      </p:grpSp>
      <p:sp>
        <p:nvSpPr>
          <p:cNvPr id="38" name="TextBox 38"/>
          <p:cNvSpPr txBox="1"/>
          <p:nvPr/>
        </p:nvSpPr>
        <p:spPr>
          <a:xfrm>
            <a:off x="1807521" y="7271147"/>
            <a:ext cx="9302058" cy="492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26 engineered features</a:t>
            </a:r>
            <a:r>
              <a:rPr lang="en-US" sz="206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significantly improved prediction performance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02F78D-8734-5EAB-3FD0-02217E07EAA0}"/>
              </a:ext>
            </a:extLst>
          </p:cNvPr>
          <p:cNvSpPr txBox="1"/>
          <p:nvPr/>
        </p:nvSpPr>
        <p:spPr>
          <a:xfrm>
            <a:off x="4038600" y="4883119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&lt;Figure size 1600x900 with 6 Axes&gt;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6874E81-FFF6-95DE-E3C5-C50226C867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221" y="1831772"/>
            <a:ext cx="7187871" cy="7391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-21771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91626" y="1406576"/>
            <a:ext cx="6368806" cy="83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Model 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625" y="2864491"/>
            <a:ext cx="6003579" cy="362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 dirty="0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Why Random Forest Classifier?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91626" y="3529603"/>
            <a:ext cx="573138" cy="573138"/>
            <a:chOff x="0" y="0"/>
            <a:chExt cx="764184" cy="7641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4159" cy="764159"/>
            </a:xfrm>
            <a:custGeom>
              <a:avLst/>
              <a:gdLst/>
              <a:ahLst/>
              <a:cxnLst/>
              <a:rect l="l" t="t" r="r" b="b"/>
              <a:pathLst>
                <a:path w="764159" h="764159">
                  <a:moveTo>
                    <a:pt x="0" y="50927"/>
                  </a:moveTo>
                  <a:cubicBezTo>
                    <a:pt x="0" y="22860"/>
                    <a:pt x="22860" y="0"/>
                    <a:pt x="50927" y="0"/>
                  </a:cubicBezTo>
                  <a:lnTo>
                    <a:pt x="713232" y="0"/>
                  </a:lnTo>
                  <a:cubicBezTo>
                    <a:pt x="741426" y="0"/>
                    <a:pt x="764159" y="22860"/>
                    <a:pt x="764159" y="50927"/>
                  </a:cubicBezTo>
                  <a:lnTo>
                    <a:pt x="764159" y="713232"/>
                  </a:lnTo>
                  <a:cubicBezTo>
                    <a:pt x="764159" y="741426"/>
                    <a:pt x="741299" y="764159"/>
                    <a:pt x="713232" y="764159"/>
                  </a:cubicBezTo>
                  <a:lnTo>
                    <a:pt x="50927" y="764159"/>
                  </a:lnTo>
                  <a:cubicBezTo>
                    <a:pt x="22860" y="764159"/>
                    <a:pt x="0" y="741426"/>
                    <a:pt x="0" y="713232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693659" y="3607594"/>
            <a:ext cx="4570514" cy="362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Handles Non-Linear Data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3659" y="4167930"/>
            <a:ext cx="4570514" cy="85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Captures complex patterns in supply chain variables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91626" y="5475837"/>
            <a:ext cx="573138" cy="573138"/>
            <a:chOff x="0" y="0"/>
            <a:chExt cx="764184" cy="7641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4159" cy="764159"/>
            </a:xfrm>
            <a:custGeom>
              <a:avLst/>
              <a:gdLst/>
              <a:ahLst/>
              <a:cxnLst/>
              <a:rect l="l" t="t" r="r" b="b"/>
              <a:pathLst>
                <a:path w="764159" h="764159">
                  <a:moveTo>
                    <a:pt x="0" y="50927"/>
                  </a:moveTo>
                  <a:cubicBezTo>
                    <a:pt x="0" y="22860"/>
                    <a:pt x="22860" y="0"/>
                    <a:pt x="50927" y="0"/>
                  </a:cubicBezTo>
                  <a:lnTo>
                    <a:pt x="713232" y="0"/>
                  </a:lnTo>
                  <a:cubicBezTo>
                    <a:pt x="741426" y="0"/>
                    <a:pt x="764159" y="22860"/>
                    <a:pt x="764159" y="50927"/>
                  </a:cubicBezTo>
                  <a:lnTo>
                    <a:pt x="764159" y="713232"/>
                  </a:lnTo>
                  <a:cubicBezTo>
                    <a:pt x="764159" y="741426"/>
                    <a:pt x="741299" y="764159"/>
                    <a:pt x="713232" y="764159"/>
                  </a:cubicBezTo>
                  <a:lnTo>
                    <a:pt x="50927" y="764159"/>
                  </a:lnTo>
                  <a:cubicBezTo>
                    <a:pt x="22860" y="764159"/>
                    <a:pt x="0" y="741426"/>
                    <a:pt x="0" y="713232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693659" y="5553818"/>
            <a:ext cx="3184322" cy="407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Robust to Noise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93659" y="6114155"/>
            <a:ext cx="4570514" cy="463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Tolerates missing or imperfect data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91626" y="7035108"/>
            <a:ext cx="573138" cy="573138"/>
            <a:chOff x="0" y="0"/>
            <a:chExt cx="764184" cy="76418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4159" cy="764159"/>
            </a:xfrm>
            <a:custGeom>
              <a:avLst/>
              <a:gdLst/>
              <a:ahLst/>
              <a:cxnLst/>
              <a:rect l="l" t="t" r="r" b="b"/>
              <a:pathLst>
                <a:path w="764159" h="764159">
                  <a:moveTo>
                    <a:pt x="0" y="50927"/>
                  </a:moveTo>
                  <a:cubicBezTo>
                    <a:pt x="0" y="22860"/>
                    <a:pt x="22860" y="0"/>
                    <a:pt x="50927" y="0"/>
                  </a:cubicBezTo>
                  <a:lnTo>
                    <a:pt x="713232" y="0"/>
                  </a:lnTo>
                  <a:cubicBezTo>
                    <a:pt x="741426" y="0"/>
                    <a:pt x="764159" y="22860"/>
                    <a:pt x="764159" y="50927"/>
                  </a:cubicBezTo>
                  <a:lnTo>
                    <a:pt x="764159" y="713232"/>
                  </a:lnTo>
                  <a:cubicBezTo>
                    <a:pt x="764159" y="741426"/>
                    <a:pt x="741299" y="764159"/>
                    <a:pt x="713232" y="764159"/>
                  </a:cubicBezTo>
                  <a:lnTo>
                    <a:pt x="50927" y="764159"/>
                  </a:lnTo>
                  <a:cubicBezTo>
                    <a:pt x="22860" y="764159"/>
                    <a:pt x="0" y="741426"/>
                    <a:pt x="0" y="713232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693659" y="7113089"/>
            <a:ext cx="3184322" cy="407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Interpretable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93659" y="7673426"/>
            <a:ext cx="4570514" cy="85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Provides feature importance for insights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895205" y="2841422"/>
            <a:ext cx="10510542" cy="5743423"/>
            <a:chOff x="0" y="0"/>
            <a:chExt cx="14014056" cy="7657897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4014069" cy="7657846"/>
            </a:xfrm>
            <a:custGeom>
              <a:avLst/>
              <a:gdLst/>
              <a:ahLst/>
              <a:cxnLst/>
              <a:rect l="l" t="t" r="r" b="b"/>
              <a:pathLst>
                <a:path w="14014069" h="7657846">
                  <a:moveTo>
                    <a:pt x="0" y="0"/>
                  </a:moveTo>
                  <a:lnTo>
                    <a:pt x="14014069" y="0"/>
                  </a:lnTo>
                  <a:lnTo>
                    <a:pt x="14014069" y="7657846"/>
                  </a:lnTo>
                  <a:lnTo>
                    <a:pt x="0" y="7657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2" b="-23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8281159" y="5523033"/>
            <a:ext cx="2435400" cy="34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sz="20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Raw Data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430946" y="5485667"/>
            <a:ext cx="2435400" cy="34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sz="20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Preprocessing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26742" y="5331962"/>
            <a:ext cx="2435400" cy="672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sz="20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Feature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59588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476688"/>
            <a:ext cx="708823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Results &amp; Insights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5992" y="1502340"/>
            <a:ext cx="7974511" cy="1078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4999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71.32%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91221" y="2507875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Test Accuracy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5307" y="3026435"/>
            <a:ext cx="797451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Model correctly classified late deliveries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84412" y="1326547"/>
            <a:ext cx="7974654" cy="1078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4999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32.6%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9717" y="2341531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High-Risk Orders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84412" y="3026940"/>
            <a:ext cx="7974654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Flagged for immediate action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7923" y="4292146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Risk Distribution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9901" y="8877500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Model clearly separates high-risk vs low-risk orders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37715" y="4070690"/>
            <a:ext cx="5402285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Model Performance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603991" y="4975565"/>
            <a:ext cx="4298756" cy="3608099"/>
            <a:chOff x="0" y="0"/>
            <a:chExt cx="5731675" cy="48107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31637" cy="4810760"/>
            </a:xfrm>
            <a:custGeom>
              <a:avLst/>
              <a:gdLst/>
              <a:ahLst/>
              <a:cxnLst/>
              <a:rect l="l" t="t" r="r" b="b"/>
              <a:pathLst>
                <a:path w="5731637" h="4810760">
                  <a:moveTo>
                    <a:pt x="0" y="0"/>
                  </a:moveTo>
                  <a:lnTo>
                    <a:pt x="5731637" y="0"/>
                  </a:lnTo>
                  <a:lnTo>
                    <a:pt x="5731637" y="4810760"/>
                  </a:lnTo>
                  <a:lnTo>
                    <a:pt x="0" y="4810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9296400" y="4743222"/>
            <a:ext cx="8236162" cy="4157548"/>
            <a:chOff x="0" y="0"/>
            <a:chExt cx="12016321" cy="667218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016359" cy="6672199"/>
            </a:xfrm>
            <a:custGeom>
              <a:avLst/>
              <a:gdLst/>
              <a:ahLst/>
              <a:cxnLst/>
              <a:rect l="l" t="t" r="r" b="b"/>
              <a:pathLst>
                <a:path w="12016359" h="6672199">
                  <a:moveTo>
                    <a:pt x="0" y="0"/>
                  </a:moveTo>
                  <a:lnTo>
                    <a:pt x="12016359" y="0"/>
                  </a:lnTo>
                  <a:lnTo>
                    <a:pt x="12016359" y="6672199"/>
                  </a:lnTo>
                  <a:lnTo>
                    <a:pt x="0" y="6672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026" b="-12026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21544" y="803967"/>
            <a:ext cx="6582366" cy="851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25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AI Agent Logic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1544" y="1743523"/>
            <a:ext cx="4364384" cy="4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Risk Thresholds &amp; Actions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21544" y="2530973"/>
            <a:ext cx="3554463" cy="2062315"/>
            <a:chOff x="0" y="0"/>
            <a:chExt cx="4739284" cy="27497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39386" cy="2749804"/>
            </a:xfrm>
            <a:custGeom>
              <a:avLst/>
              <a:gdLst/>
              <a:ahLst/>
              <a:cxnLst/>
              <a:rect l="l" t="t" r="r" b="b"/>
              <a:pathLst>
                <a:path w="4739386" h="2749804">
                  <a:moveTo>
                    <a:pt x="0" y="52705"/>
                  </a:moveTo>
                  <a:cubicBezTo>
                    <a:pt x="0" y="23622"/>
                    <a:pt x="23622" y="0"/>
                    <a:pt x="52705" y="0"/>
                  </a:cubicBezTo>
                  <a:lnTo>
                    <a:pt x="4686681" y="0"/>
                  </a:lnTo>
                  <a:cubicBezTo>
                    <a:pt x="4715764" y="0"/>
                    <a:pt x="4739386" y="23622"/>
                    <a:pt x="4739386" y="52705"/>
                  </a:cubicBezTo>
                  <a:lnTo>
                    <a:pt x="4739386" y="2697099"/>
                  </a:lnTo>
                  <a:cubicBezTo>
                    <a:pt x="4739386" y="2726182"/>
                    <a:pt x="4715764" y="2749804"/>
                    <a:pt x="4686681" y="2749804"/>
                  </a:cubicBezTo>
                  <a:lnTo>
                    <a:pt x="52705" y="2749804"/>
                  </a:lnTo>
                  <a:cubicBezTo>
                    <a:pt x="23622" y="2749804"/>
                    <a:pt x="0" y="2726182"/>
                    <a:pt x="0" y="2697099"/>
                  </a:cubicBezTo>
                  <a:close/>
                </a:path>
              </a:pathLst>
            </a:custGeom>
            <a:solidFill>
              <a:srgbClr val="28A745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184824" y="2784719"/>
            <a:ext cx="3291183" cy="4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🟢</a:t>
            </a:r>
            <a:r>
              <a:rPr lang="en-US" sz="2562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 Low Risk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4824" y="3304432"/>
            <a:ext cx="4144718" cy="47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&lt;0.30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4824" y="3857177"/>
            <a:ext cx="4144718" cy="47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No action required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674680" y="2566921"/>
            <a:ext cx="3746449" cy="2062315"/>
            <a:chOff x="0" y="0"/>
            <a:chExt cx="4995266" cy="27497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95291" cy="2749804"/>
            </a:xfrm>
            <a:custGeom>
              <a:avLst/>
              <a:gdLst/>
              <a:ahLst/>
              <a:cxnLst/>
              <a:rect l="l" t="t" r="r" b="b"/>
              <a:pathLst>
                <a:path w="4995291" h="2749804">
                  <a:moveTo>
                    <a:pt x="0" y="52705"/>
                  </a:moveTo>
                  <a:cubicBezTo>
                    <a:pt x="0" y="23622"/>
                    <a:pt x="23622" y="0"/>
                    <a:pt x="52705" y="0"/>
                  </a:cubicBezTo>
                  <a:lnTo>
                    <a:pt x="4942586" y="0"/>
                  </a:lnTo>
                  <a:cubicBezTo>
                    <a:pt x="4971669" y="0"/>
                    <a:pt x="4995291" y="23622"/>
                    <a:pt x="4995291" y="52705"/>
                  </a:cubicBezTo>
                  <a:lnTo>
                    <a:pt x="4995291" y="2697099"/>
                  </a:lnTo>
                  <a:cubicBezTo>
                    <a:pt x="4995291" y="2726182"/>
                    <a:pt x="4971669" y="2749804"/>
                    <a:pt x="4942586" y="2749804"/>
                  </a:cubicBezTo>
                  <a:lnTo>
                    <a:pt x="52705" y="2749804"/>
                  </a:lnTo>
                  <a:cubicBezTo>
                    <a:pt x="23622" y="2749804"/>
                    <a:pt x="0" y="2726182"/>
                    <a:pt x="0" y="2697099"/>
                  </a:cubicBezTo>
                  <a:close/>
                </a:path>
              </a:pathLst>
            </a:custGeom>
            <a:solidFill>
              <a:srgbClr val="FFC107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5129946" y="2784719"/>
            <a:ext cx="3291183" cy="4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🟡 Medium Risk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92813" y="3339179"/>
            <a:ext cx="4144718" cy="47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0.30–0.70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12515" y="3812086"/>
            <a:ext cx="4144718" cy="47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Monitor and review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21544" y="4837662"/>
            <a:ext cx="7499585" cy="2062315"/>
            <a:chOff x="0" y="0"/>
            <a:chExt cx="9999447" cy="27497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99473" cy="2749804"/>
            </a:xfrm>
            <a:custGeom>
              <a:avLst/>
              <a:gdLst/>
              <a:ahLst/>
              <a:cxnLst/>
              <a:rect l="l" t="t" r="r" b="b"/>
              <a:pathLst>
                <a:path w="9999473" h="2749804">
                  <a:moveTo>
                    <a:pt x="0" y="52705"/>
                  </a:moveTo>
                  <a:cubicBezTo>
                    <a:pt x="0" y="23622"/>
                    <a:pt x="23622" y="0"/>
                    <a:pt x="52705" y="0"/>
                  </a:cubicBezTo>
                  <a:lnTo>
                    <a:pt x="9946767" y="0"/>
                  </a:lnTo>
                  <a:cubicBezTo>
                    <a:pt x="9975850" y="0"/>
                    <a:pt x="9999473" y="23622"/>
                    <a:pt x="9999473" y="52705"/>
                  </a:cubicBezTo>
                  <a:lnTo>
                    <a:pt x="9999473" y="2697099"/>
                  </a:lnTo>
                  <a:cubicBezTo>
                    <a:pt x="9999473" y="2726182"/>
                    <a:pt x="9975850" y="2749804"/>
                    <a:pt x="9946767" y="2749804"/>
                  </a:cubicBezTo>
                  <a:lnTo>
                    <a:pt x="52705" y="2749804"/>
                  </a:lnTo>
                  <a:cubicBezTo>
                    <a:pt x="23622" y="2749804"/>
                    <a:pt x="0" y="2726182"/>
                    <a:pt x="0" y="2697099"/>
                  </a:cubicBezTo>
                  <a:close/>
                </a:path>
              </a:pathLst>
            </a:custGeom>
            <a:solidFill>
              <a:srgbClr val="DC3545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184824" y="5091408"/>
            <a:ext cx="3291183" cy="4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🔴</a:t>
            </a:r>
            <a:r>
              <a:rPr lang="en-US" sz="2562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 High Risk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4824" y="5611120"/>
            <a:ext cx="9060361" cy="47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&gt;0.70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4824" y="6163866"/>
            <a:ext cx="9060361" cy="47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Expedite shipping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1544" y="7430395"/>
            <a:ext cx="7499585" cy="74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2"/>
              </a:lnSpc>
            </a:pPr>
            <a:r>
              <a:rPr lang="en-US" sz="681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171K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103740" y="8318821"/>
            <a:ext cx="3291183" cy="4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Orders Flagged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-317449" y="8981484"/>
            <a:ext cx="9586912" cy="591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Automatically identified for action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989543" y="169164"/>
            <a:ext cx="8692763" cy="4711055"/>
            <a:chOff x="0" y="0"/>
            <a:chExt cx="11590350" cy="628140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590401" cy="6281420"/>
            </a:xfrm>
            <a:custGeom>
              <a:avLst/>
              <a:gdLst/>
              <a:ahLst/>
              <a:cxnLst/>
              <a:rect l="l" t="t" r="r" b="b"/>
              <a:pathLst>
                <a:path w="11590401" h="6281420">
                  <a:moveTo>
                    <a:pt x="0" y="0"/>
                  </a:moveTo>
                  <a:lnTo>
                    <a:pt x="11590401" y="0"/>
                  </a:lnTo>
                  <a:lnTo>
                    <a:pt x="11590401" y="6281420"/>
                  </a:lnTo>
                  <a:lnTo>
                    <a:pt x="0" y="62814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963" b="-25963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8989543" y="5143500"/>
            <a:ext cx="8692763" cy="4876429"/>
            <a:chOff x="0" y="0"/>
            <a:chExt cx="11590350" cy="650190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590401" cy="6501892"/>
            </a:xfrm>
            <a:custGeom>
              <a:avLst/>
              <a:gdLst/>
              <a:ahLst/>
              <a:cxnLst/>
              <a:rect l="l" t="t" r="r" b="b"/>
              <a:pathLst>
                <a:path w="11590401" h="6501892">
                  <a:moveTo>
                    <a:pt x="0" y="0"/>
                  </a:moveTo>
                  <a:lnTo>
                    <a:pt x="11590401" y="0"/>
                  </a:lnTo>
                  <a:lnTo>
                    <a:pt x="11590401" y="6501892"/>
                  </a:lnTo>
                  <a:lnTo>
                    <a:pt x="0" y="6501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7255"/>
            <a:ext cx="18288000" cy="10678844"/>
            <a:chOff x="-14515" y="643499"/>
            <a:chExt cx="24358249" cy="13014361"/>
          </a:xfrm>
        </p:grpSpPr>
        <p:sp>
          <p:nvSpPr>
            <p:cNvPr id="3" name="Freeform 3"/>
            <p:cNvSpPr/>
            <p:nvPr/>
          </p:nvSpPr>
          <p:spPr>
            <a:xfrm>
              <a:off x="-14515" y="643499"/>
              <a:ext cx="24358249" cy="13014361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4800" y="262658"/>
            <a:ext cx="15570698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4000" b="1" dirty="0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Ethical Considerations &amp; Impact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15776" y="983313"/>
            <a:ext cx="7907978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 dirty="0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Building Trustworthy AI for Supply Chain Operations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849057" y="1738382"/>
            <a:ext cx="5921486" cy="3276304"/>
            <a:chOff x="0" y="0"/>
            <a:chExt cx="4340022" cy="23346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39971" cy="2334641"/>
            </a:xfrm>
            <a:custGeom>
              <a:avLst/>
              <a:gdLst/>
              <a:ahLst/>
              <a:cxnLst/>
              <a:rect l="l" t="t" r="r" b="b"/>
              <a:pathLst>
                <a:path w="4339971" h="2334641">
                  <a:moveTo>
                    <a:pt x="0" y="28702"/>
                  </a:moveTo>
                  <a:cubicBezTo>
                    <a:pt x="0" y="12827"/>
                    <a:pt x="12827" y="0"/>
                    <a:pt x="28702" y="0"/>
                  </a:cubicBezTo>
                  <a:lnTo>
                    <a:pt x="4311269" y="0"/>
                  </a:lnTo>
                  <a:cubicBezTo>
                    <a:pt x="4327144" y="0"/>
                    <a:pt x="4339971" y="12827"/>
                    <a:pt x="4339971" y="28702"/>
                  </a:cubicBezTo>
                  <a:lnTo>
                    <a:pt x="4339971" y="2305939"/>
                  </a:lnTo>
                  <a:cubicBezTo>
                    <a:pt x="4339971" y="2321814"/>
                    <a:pt x="4327144" y="2334641"/>
                    <a:pt x="4311269" y="2334641"/>
                  </a:cubicBezTo>
                  <a:lnTo>
                    <a:pt x="28702" y="2334641"/>
                  </a:lnTo>
                  <a:cubicBezTo>
                    <a:pt x="12827" y="2334641"/>
                    <a:pt x="0" y="2321814"/>
                    <a:pt x="0" y="2305939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904416" y="1922637"/>
            <a:ext cx="3111360" cy="244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2800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Transparency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04416" y="2456861"/>
            <a:ext cx="567905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All recommendations are rule-based and fully auditable. Every decision traces back to an explicit probability threshold</a:t>
            </a:r>
            <a:br>
              <a:rPr lang="en-US" sz="20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lang="en-US" sz="20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— no black-box outputs.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11106150" y="2732484"/>
            <a:ext cx="193777" cy="193777"/>
          </a:xfrm>
          <a:custGeom>
            <a:avLst/>
            <a:gdLst/>
            <a:ahLst/>
            <a:cxnLst/>
            <a:rect l="l" t="t" r="r" b="b"/>
            <a:pathLst>
              <a:path w="193777" h="193777">
                <a:moveTo>
                  <a:pt x="0" y="0"/>
                </a:moveTo>
                <a:lnTo>
                  <a:pt x="193777" y="0"/>
                </a:lnTo>
                <a:lnTo>
                  <a:pt x="193777" y="193777"/>
                </a:lnTo>
                <a:lnTo>
                  <a:pt x="0" y="1937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4188771" y="5679176"/>
            <a:ext cx="9910315" cy="27384"/>
            <a:chOff x="0" y="0"/>
            <a:chExt cx="13213753" cy="3651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213714" cy="36576"/>
            </a:xfrm>
            <a:custGeom>
              <a:avLst/>
              <a:gdLst/>
              <a:ahLst/>
              <a:cxnLst/>
              <a:rect l="l" t="t" r="r" b="b"/>
              <a:pathLst>
                <a:path w="13213714" h="36576">
                  <a:moveTo>
                    <a:pt x="0" y="0"/>
                  </a:moveTo>
                  <a:lnTo>
                    <a:pt x="13213714" y="0"/>
                  </a:lnTo>
                  <a:lnTo>
                    <a:pt x="1321371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C9C9C0">
                <a:alpha val="24706"/>
              </a:srgbClr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4188771" y="8067523"/>
            <a:ext cx="19050" cy="336499"/>
            <a:chOff x="0" y="0"/>
            <a:chExt cx="25400" cy="44866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5400" cy="448691"/>
            </a:xfrm>
            <a:custGeom>
              <a:avLst/>
              <a:gdLst/>
              <a:ahLst/>
              <a:cxnLst/>
              <a:rect l="l" t="t" r="r" b="b"/>
              <a:pathLst>
                <a:path w="25400" h="448691">
                  <a:moveTo>
                    <a:pt x="0" y="0"/>
                  </a:moveTo>
                  <a:lnTo>
                    <a:pt x="25400" y="0"/>
                  </a:lnTo>
                  <a:lnTo>
                    <a:pt x="25400" y="448691"/>
                  </a:lnTo>
                  <a:lnTo>
                    <a:pt x="0" y="448691"/>
                  </a:lnTo>
                  <a:close/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id="52" name="Group 8">
            <a:extLst>
              <a:ext uri="{FF2B5EF4-FFF2-40B4-BE49-F238E27FC236}">
                <a16:creationId xmlns:a16="http://schemas.microsoft.com/office/drawing/2014/main" id="{17D4AFB0-B7A4-C507-50D1-C97133747D3B}"/>
              </a:ext>
            </a:extLst>
          </p:cNvPr>
          <p:cNvGrpSpPr/>
          <p:nvPr/>
        </p:nvGrpSpPr>
        <p:grpSpPr>
          <a:xfrm>
            <a:off x="10667999" y="5400511"/>
            <a:ext cx="5921416" cy="3276339"/>
            <a:chOff x="2235934" y="-9214"/>
            <a:chExt cx="4339971" cy="2334641"/>
          </a:xfrm>
        </p:grpSpPr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33BF6DB4-CD5B-10DA-F893-0CB67EA69639}"/>
                </a:ext>
              </a:extLst>
            </p:cNvPr>
            <p:cNvSpPr/>
            <p:nvPr/>
          </p:nvSpPr>
          <p:spPr>
            <a:xfrm>
              <a:off x="2235934" y="-9214"/>
              <a:ext cx="4339971" cy="2334641"/>
            </a:xfrm>
            <a:custGeom>
              <a:avLst/>
              <a:gdLst/>
              <a:ahLst/>
              <a:cxnLst/>
              <a:rect l="l" t="t" r="r" b="b"/>
              <a:pathLst>
                <a:path w="4339971" h="2334641">
                  <a:moveTo>
                    <a:pt x="0" y="28702"/>
                  </a:moveTo>
                  <a:cubicBezTo>
                    <a:pt x="0" y="12827"/>
                    <a:pt x="12827" y="0"/>
                    <a:pt x="28702" y="0"/>
                  </a:cubicBezTo>
                  <a:lnTo>
                    <a:pt x="4311269" y="0"/>
                  </a:lnTo>
                  <a:cubicBezTo>
                    <a:pt x="4327144" y="0"/>
                    <a:pt x="4339971" y="12827"/>
                    <a:pt x="4339971" y="28702"/>
                  </a:cubicBezTo>
                  <a:lnTo>
                    <a:pt x="4339971" y="2305939"/>
                  </a:lnTo>
                  <a:cubicBezTo>
                    <a:pt x="4339971" y="2321814"/>
                    <a:pt x="4327144" y="2334641"/>
                    <a:pt x="4311269" y="2334641"/>
                  </a:cubicBezTo>
                  <a:lnTo>
                    <a:pt x="28702" y="2334641"/>
                  </a:lnTo>
                  <a:cubicBezTo>
                    <a:pt x="12827" y="2334641"/>
                    <a:pt x="0" y="2321814"/>
                    <a:pt x="0" y="2305939"/>
                  </a:cubicBez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r>
                <a:rPr lang="en-US" sz="2800" b="1" dirty="0">
                  <a:solidFill>
                    <a:srgbClr val="C9C9C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Fairness</a:t>
              </a:r>
            </a:p>
            <a:p>
              <a:endParaRPr lang="en-US" b="1" dirty="0">
                <a:solidFill>
                  <a:srgbClr val="C9C9C0"/>
                </a:solidFill>
                <a:latin typeface="Tomorrow Bold"/>
                <a:sym typeface="Tomorrow Bold"/>
              </a:endParaRPr>
            </a:p>
            <a:p>
              <a:r>
                <a:rPr lang="en-US" sz="2000" dirty="0">
                  <a:solidFill>
                    <a:srgbClr val="C9C9C0"/>
                  </a:solidFill>
                  <a:latin typeface="Tomorrow"/>
                  <a:ea typeface="Tomorrow"/>
                  <a:cs typeface="Tomorrow"/>
                  <a:sym typeface="Tomorrow"/>
                </a:rPr>
                <a:t>Risk scoring applies uniform probability thresholds across all orders regardless of region or customer identity.</a:t>
              </a:r>
            </a:p>
            <a:p>
              <a:endParaRPr lang="en-IN" dirty="0"/>
            </a:p>
          </p:txBody>
        </p:sp>
      </p:grpSp>
      <p:grpSp>
        <p:nvGrpSpPr>
          <p:cNvPr id="56" name="Group 8">
            <a:extLst>
              <a:ext uri="{FF2B5EF4-FFF2-40B4-BE49-F238E27FC236}">
                <a16:creationId xmlns:a16="http://schemas.microsoft.com/office/drawing/2014/main" id="{43E580FB-D126-B490-0805-EF468371EDF5}"/>
              </a:ext>
            </a:extLst>
          </p:cNvPr>
          <p:cNvGrpSpPr/>
          <p:nvPr/>
        </p:nvGrpSpPr>
        <p:grpSpPr>
          <a:xfrm>
            <a:off x="1849057" y="5376059"/>
            <a:ext cx="5921416" cy="3276339"/>
            <a:chOff x="381322" y="413339"/>
            <a:chExt cx="4339971" cy="2334641"/>
          </a:xfrm>
        </p:grpSpPr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807893D9-2F0F-D4A5-D2EA-90A1B0BEC43E}"/>
                </a:ext>
              </a:extLst>
            </p:cNvPr>
            <p:cNvSpPr/>
            <p:nvPr/>
          </p:nvSpPr>
          <p:spPr>
            <a:xfrm>
              <a:off x="381322" y="413339"/>
              <a:ext cx="4339971" cy="2334641"/>
            </a:xfrm>
            <a:custGeom>
              <a:avLst/>
              <a:gdLst/>
              <a:ahLst/>
              <a:cxnLst/>
              <a:rect l="l" t="t" r="r" b="b"/>
              <a:pathLst>
                <a:path w="4339971" h="2334641">
                  <a:moveTo>
                    <a:pt x="0" y="28702"/>
                  </a:moveTo>
                  <a:cubicBezTo>
                    <a:pt x="0" y="12827"/>
                    <a:pt x="12827" y="0"/>
                    <a:pt x="28702" y="0"/>
                  </a:cubicBezTo>
                  <a:lnTo>
                    <a:pt x="4311269" y="0"/>
                  </a:lnTo>
                  <a:cubicBezTo>
                    <a:pt x="4327144" y="0"/>
                    <a:pt x="4339971" y="12827"/>
                    <a:pt x="4339971" y="28702"/>
                  </a:cubicBezTo>
                  <a:lnTo>
                    <a:pt x="4339971" y="2305939"/>
                  </a:lnTo>
                  <a:cubicBezTo>
                    <a:pt x="4339971" y="2321814"/>
                    <a:pt x="4327144" y="2334641"/>
                    <a:pt x="4311269" y="2334641"/>
                  </a:cubicBezTo>
                  <a:lnTo>
                    <a:pt x="28702" y="2334641"/>
                  </a:lnTo>
                  <a:cubicBezTo>
                    <a:pt x="12827" y="2334641"/>
                    <a:pt x="0" y="2321814"/>
                    <a:pt x="0" y="2305939"/>
                  </a:cubicBez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r>
                <a:rPr lang="en-US" sz="2800" b="1" dirty="0">
                  <a:solidFill>
                    <a:srgbClr val="C9C9C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Data Privacy</a:t>
              </a:r>
            </a:p>
            <a:p>
              <a:endParaRPr lang="en-IN" dirty="0"/>
            </a:p>
            <a:p>
              <a:r>
                <a:rPr lang="en-US" sz="2000" dirty="0">
                  <a:solidFill>
                    <a:srgbClr val="C9C9C0"/>
                  </a:solidFill>
                  <a:latin typeface="Tomorrow"/>
                  <a:ea typeface="Tomorrow"/>
                  <a:cs typeface="Tomorrow"/>
                  <a:sym typeface="Tomorrow"/>
                </a:rPr>
                <a:t>Customer names, emails, and passwords are dropped in Notebook 1. No PII enters the model pipeline.</a:t>
              </a:r>
            </a:p>
            <a:p>
              <a:endParaRPr lang="en-IN" dirty="0"/>
            </a:p>
          </p:txBody>
        </p:sp>
      </p:grpSp>
      <p:grpSp>
        <p:nvGrpSpPr>
          <p:cNvPr id="58" name="Group 8">
            <a:extLst>
              <a:ext uri="{FF2B5EF4-FFF2-40B4-BE49-F238E27FC236}">
                <a16:creationId xmlns:a16="http://schemas.microsoft.com/office/drawing/2014/main" id="{14DEFF5D-6EA6-A8F5-4AC1-338D1291E378}"/>
              </a:ext>
            </a:extLst>
          </p:cNvPr>
          <p:cNvGrpSpPr/>
          <p:nvPr/>
        </p:nvGrpSpPr>
        <p:grpSpPr>
          <a:xfrm>
            <a:off x="10667998" y="1680091"/>
            <a:ext cx="5921416" cy="3276339"/>
            <a:chOff x="-2401248" y="-2196033"/>
            <a:chExt cx="4339971" cy="2334641"/>
          </a:xfrm>
        </p:grpSpPr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DF79345B-8F1B-EB42-65D2-BC78D5BBB6A7}"/>
                </a:ext>
              </a:extLst>
            </p:cNvPr>
            <p:cNvSpPr/>
            <p:nvPr/>
          </p:nvSpPr>
          <p:spPr>
            <a:xfrm>
              <a:off x="-2401248" y="-2196033"/>
              <a:ext cx="4339971" cy="2334641"/>
            </a:xfrm>
            <a:custGeom>
              <a:avLst/>
              <a:gdLst/>
              <a:ahLst/>
              <a:cxnLst/>
              <a:rect l="l" t="t" r="r" b="b"/>
              <a:pathLst>
                <a:path w="4339971" h="2334641">
                  <a:moveTo>
                    <a:pt x="0" y="28702"/>
                  </a:moveTo>
                  <a:cubicBezTo>
                    <a:pt x="0" y="12827"/>
                    <a:pt x="12827" y="0"/>
                    <a:pt x="28702" y="0"/>
                  </a:cubicBezTo>
                  <a:lnTo>
                    <a:pt x="4311269" y="0"/>
                  </a:lnTo>
                  <a:cubicBezTo>
                    <a:pt x="4327144" y="0"/>
                    <a:pt x="4339971" y="12827"/>
                    <a:pt x="4339971" y="28702"/>
                  </a:cubicBezTo>
                  <a:lnTo>
                    <a:pt x="4339971" y="2305939"/>
                  </a:lnTo>
                  <a:cubicBezTo>
                    <a:pt x="4339971" y="2321814"/>
                    <a:pt x="4327144" y="2334641"/>
                    <a:pt x="4311269" y="2334641"/>
                  </a:cubicBezTo>
                  <a:lnTo>
                    <a:pt x="28702" y="2334641"/>
                  </a:lnTo>
                  <a:cubicBezTo>
                    <a:pt x="12827" y="2334641"/>
                    <a:pt x="0" y="2321814"/>
                    <a:pt x="0" y="2305939"/>
                  </a:cubicBez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r>
                <a:rPr lang="en-US" sz="2800" b="1" dirty="0">
                  <a:solidFill>
                    <a:srgbClr val="C9C9C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Bias Awareness</a:t>
              </a:r>
            </a:p>
            <a:p>
              <a:endParaRPr lang="en-US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endParaRPr>
            </a:p>
            <a:p>
              <a:r>
                <a:rPr lang="en-US" sz="2000" dirty="0">
                  <a:solidFill>
                    <a:srgbClr val="C9C9C0"/>
                  </a:solidFill>
                  <a:latin typeface="Tomorrow"/>
                  <a:ea typeface="Tomorrow"/>
                  <a:cs typeface="Tomorrow"/>
                  <a:sym typeface="Tomorrow"/>
                </a:rPr>
                <a:t>Historical late-rates per region and market are used as features — results are reviewed periodically to avoid systematic penalization of any segment.</a:t>
              </a:r>
            </a:p>
            <a:p>
              <a:endParaRPr lang="en-US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endParaRPr>
            </a:p>
            <a:p>
              <a:endParaRPr lang="en-IN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3"/>
          <p:cNvGrpSpPr/>
          <p:nvPr/>
        </p:nvGrpSpPr>
        <p:grpSpPr>
          <a:xfrm>
            <a:off x="4248307" y="4585153"/>
            <a:ext cx="9910315" cy="1231697"/>
            <a:chOff x="0" y="0"/>
            <a:chExt cx="13213753" cy="164226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213714" cy="1642237"/>
            </a:xfrm>
            <a:custGeom>
              <a:avLst/>
              <a:gdLst/>
              <a:ahLst/>
              <a:cxnLst/>
              <a:rect l="l" t="t" r="r" b="b"/>
              <a:pathLst>
                <a:path w="13213714" h="1642237">
                  <a:moveTo>
                    <a:pt x="0" y="28702"/>
                  </a:moveTo>
                  <a:cubicBezTo>
                    <a:pt x="0" y="12827"/>
                    <a:pt x="12827" y="0"/>
                    <a:pt x="28702" y="0"/>
                  </a:cubicBezTo>
                  <a:lnTo>
                    <a:pt x="13185012" y="0"/>
                  </a:lnTo>
                  <a:cubicBezTo>
                    <a:pt x="13200887" y="0"/>
                    <a:pt x="13213714" y="12827"/>
                    <a:pt x="13213714" y="28702"/>
                  </a:cubicBezTo>
                  <a:lnTo>
                    <a:pt x="13213714" y="1613535"/>
                  </a:lnTo>
                  <a:cubicBezTo>
                    <a:pt x="13213714" y="1629410"/>
                    <a:pt x="13200887" y="1642237"/>
                    <a:pt x="13185012" y="1642237"/>
                  </a:cubicBezTo>
                  <a:lnTo>
                    <a:pt x="28702" y="1642237"/>
                  </a:lnTo>
                  <a:cubicBezTo>
                    <a:pt x="12827" y="1642237"/>
                    <a:pt x="0" y="1629410"/>
                    <a:pt x="0" y="1613535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2275" y="-132083"/>
            <a:ext cx="18502992" cy="10287000"/>
          </a:xfrm>
          <a:custGeom>
            <a:avLst/>
            <a:gdLst/>
            <a:ahLst/>
            <a:cxnLst/>
            <a:rect l="l" t="t" r="r" b="b"/>
            <a:pathLst>
              <a:path w="24384000" h="13716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D1D1B"/>
          </a:solidFill>
        </p:spPr>
        <p:txBody>
          <a:bodyPr/>
          <a:lstStyle/>
          <a:p>
            <a:pPr lvl="0">
              <a:lnSpc>
                <a:spcPts val="2812"/>
              </a:lnSpc>
              <a:defRPr/>
            </a:pPr>
            <a:endParaRPr lang="en-US" sz="2249" b="1" dirty="0">
              <a:solidFill>
                <a:srgbClr val="EDEDE8"/>
              </a:solidFill>
              <a:latin typeface="Tomorrow Bold"/>
              <a:ea typeface="Tomorrow Bold"/>
              <a:cs typeface="Tomorrow Bold"/>
              <a:sym typeface="Tomorrow 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8BC8D-CAAA-83FC-E1FD-C22A0233C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147" y="240092"/>
            <a:ext cx="4645908" cy="9646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86413B-7BBD-5E14-DF7C-22B593B44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36" y="1692220"/>
            <a:ext cx="4495799" cy="2267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DCB9F1-DBC2-05DF-0A51-ABD87F79A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610" y="4434939"/>
            <a:ext cx="12023762" cy="16911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EEE684-29D6-2CA1-471C-4BDC4F366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61" y="1832848"/>
            <a:ext cx="1693231" cy="7498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58DF1DA-14DF-0760-8984-F200F7C70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202" y="1626331"/>
            <a:ext cx="4495799" cy="22672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8A4A59-2AAC-AA99-91B8-9A5EC1DA2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3760" y="1652277"/>
            <a:ext cx="4542607" cy="226729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957A9BC-A53F-AA68-1756-69F15D4D73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0396" y="1804215"/>
            <a:ext cx="1621604" cy="75593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4655547-02BC-0E2B-334E-2C73497759CE}"/>
              </a:ext>
            </a:extLst>
          </p:cNvPr>
          <p:cNvSpPr txBox="1"/>
          <p:nvPr/>
        </p:nvSpPr>
        <p:spPr>
          <a:xfrm>
            <a:off x="6591554" y="2623580"/>
            <a:ext cx="4076446" cy="612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24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prediction accuracy with </a:t>
            </a:r>
          </a:p>
          <a:p>
            <a:pPr algn="l">
              <a:lnSpc>
                <a:spcPts val="1312"/>
              </a:lnSpc>
            </a:pPr>
            <a:endParaRPr lang="en-US" sz="2400" dirty="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1312"/>
              </a:lnSpc>
            </a:pPr>
            <a:r>
              <a:rPr lang="en-US" sz="24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no significant overfitting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274E6F-020A-1FE3-2CE8-1E8C86BF2583}"/>
              </a:ext>
            </a:extLst>
          </p:cNvPr>
          <p:cNvSpPr txBox="1"/>
          <p:nvPr/>
        </p:nvSpPr>
        <p:spPr>
          <a:xfrm>
            <a:off x="660409" y="2633247"/>
            <a:ext cx="37591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Orders processed end to end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C198C2-4F41-006E-16D0-D4C59209A23A}"/>
              </a:ext>
            </a:extLst>
          </p:cNvPr>
          <p:cNvSpPr txBox="1"/>
          <p:nvPr/>
        </p:nvSpPr>
        <p:spPr>
          <a:xfrm>
            <a:off x="13106400" y="2020599"/>
            <a:ext cx="2362200" cy="337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2800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171,354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638FF9-E9BF-9FCF-5C7B-8373FCD37EFD}"/>
              </a:ext>
            </a:extLst>
          </p:cNvPr>
          <p:cNvSpPr txBox="1"/>
          <p:nvPr/>
        </p:nvSpPr>
        <p:spPr>
          <a:xfrm>
            <a:off x="12866996" y="2418244"/>
            <a:ext cx="4369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orders automatically triaged — zero manual review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E847F2-5C97-5D03-0692-6DA71C2F2AC1}"/>
              </a:ext>
            </a:extLst>
          </p:cNvPr>
          <p:cNvSpPr txBox="1"/>
          <p:nvPr/>
        </p:nvSpPr>
        <p:spPr>
          <a:xfrm>
            <a:off x="3124200" y="4684404"/>
            <a:ext cx="9253182" cy="327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2400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Societal benefit: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87FB4E-D41C-4E7D-010E-E3195EC067B4}"/>
              </a:ext>
            </a:extLst>
          </p:cNvPr>
          <p:cNvSpPr txBox="1"/>
          <p:nvPr/>
        </p:nvSpPr>
        <p:spPr>
          <a:xfrm>
            <a:off x="3124200" y="5297471"/>
            <a:ext cx="9253182" cy="287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24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reduces expedited shipments → lower carbon emissions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386C416-E088-3EDD-AD5A-5D99B9ECC0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6706848"/>
            <a:ext cx="16948336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60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639</Words>
  <Application>Microsoft Office PowerPoint</Application>
  <PresentationFormat>Custom</PresentationFormat>
  <Paragraphs>157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Tomorrow</vt:lpstr>
      <vt:lpstr>Tomorrow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Supply-Chain-Monitoring-Agent.pptx</dc:title>
  <dc:creator>Likhith</dc:creator>
  <cp:lastModifiedBy>Likhith</cp:lastModifiedBy>
  <cp:revision>7</cp:revision>
  <dcterms:created xsi:type="dcterms:W3CDTF">2006-08-16T00:00:00Z</dcterms:created>
  <dcterms:modified xsi:type="dcterms:W3CDTF">2026-03-30T13:45:59Z</dcterms:modified>
  <dc:identifier>DAHFWbjlsk4</dc:identifier>
</cp:coreProperties>
</file>